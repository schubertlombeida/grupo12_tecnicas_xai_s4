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71" r:id="rId2"/>
    <p:sldId id="256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9" r:id="rId13"/>
    <p:sldId id="270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C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EC724C-481A-43F9-A074-57C7776FAF6D}" type="datetimeFigureOut">
              <a:rPr lang="es-EC" smtClean="0"/>
              <a:t>21/5/2026</a:t>
            </a:fld>
            <a:endParaRPr lang="es-EC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C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C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520FDEC-04B2-4AD9-A980-F4E6AF4D5DE5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9183593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Presentar el propósito del trabajo: no solo entrenar un modelo, sino auditarlo desde calidad de datos, sesgo, explicabilidad y ética. Resaltar que la presentación deja espacio para el video explicativo en la parte superior derecha.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Presentar el caso de negocio: clasificación binaria salarial. Mencionar que el objetivo nace de un umbral anual y que el dataset está desbalanceado hacia ingresos mayores a 40K.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Narrar las fases de trabajo: primero preparar los datos, luego entrenar, evaluar, explicar y finalmente reflexionar éticamente.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Explicar que esta fase cumple el componente de calidad de datos. Destacar faltantes, variables eliminadas y la advertencia de fuga de información.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Interpretar las dos gráficas: una muestra ingreso promedio y otra tasa de superación del umbral. Aclarar que aunque la brecha es pequeña, el monitoreo es necesario por tratarse de una variable sensible.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Explicar cómo se ejecutó el modelo: preparación, separación, entrenamiento y umbral. Mencionar que, aunque se usa regressor, se convierte a clasificación binaria para el ejercicio.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 las métricas perfectas y explicar que no se deben celebrar sin auditoría. El punto fuerte del trabajo es que XAI detecta la causa probable: la variable salarial dominante.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Explicar que las métricas de equidad son favorables, pero que no sustituyen la revisión metodológica. La variable sexo debe tratarse con cautela y monitoreo.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Interpretar que PFI y SHAP permiten verificar globalmente qué mueve las decisiones del modelo. En este caso, el hallazgo es claro: la variable salarial total con beneficios domina.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Presentar la diferencia entre explicación global y local. En un caso individual, SHAP y LIME permiten ver qué variables explican por qué el modelo clasifica ese registro de una forma concreta.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Desarrollar la reflexión obligatoria: qué aprendimos, qué variable pesa demasiado y qué pasaría si se implementa sin explicabilidad. Este es el corazón ético del taller.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Cerrar con las recomendaciones de producción y el mensaje final. Invitar a ver el repositorio y explicar que el video se apoya en esta presentación como fondo visual.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10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11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_dark_futuristic_tech_business_background_sce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-59572" y="7452726"/>
            <a:ext cx="12192000" cy="7264401"/>
          </a:xfrm>
          <a:prstGeom prst="rect">
            <a:avLst/>
          </a:prstGeom>
          <a:solidFill>
            <a:srgbClr val="010C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ai_video_zone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320040"/>
            <a:ext cx="5166360" cy="26517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32004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DCEB"/>
                </a:solidFill>
                <a:latin typeface="Aptos"/>
              </a:rPr>
              <a:t>UNIDAD 4 · ÉTICA, SESGO Y CALIDAD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77240"/>
            <a:ext cx="56235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ptos"/>
              </a:rPr>
              <a:t>Técnicas XAI aplicadas a un modelo de predicción salarial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893891"/>
            <a:ext cx="5166360" cy="5182298"/>
          </a:xfrm>
          <a:prstGeom prst="roundRect">
            <a:avLst/>
          </a:prstGeom>
          <a:solidFill>
            <a:srgbClr val="000C18"/>
          </a:solidFill>
          <a:ln w="12700">
            <a:solidFill>
              <a:srgbClr val="00B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766560" y="2697480"/>
            <a:ext cx="461772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dirty="0">
                <a:solidFill>
                  <a:srgbClr val="789CAA"/>
                </a:solidFill>
                <a:latin typeface="Aptos"/>
              </a:rPr>
              <a:t>ESPACIO RESERVADO PARA VIDEO </a:t>
            </a:r>
            <a:r>
              <a:rPr lang="es-EC" sz="800" b="0" dirty="0">
                <a:solidFill>
                  <a:srgbClr val="789CAA"/>
                </a:solidFill>
                <a:latin typeface="Aptos"/>
              </a:rPr>
              <a:t>INTRODUCCIÓN</a:t>
            </a:r>
            <a:endParaRPr sz="800" b="0" dirty="0">
              <a:solidFill>
                <a:srgbClr val="789CAA"/>
              </a:solidFill>
              <a:latin typeface="Aptos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67512" y="1760220"/>
            <a:ext cx="5166360" cy="2057400"/>
          </a:xfrm>
          <a:prstGeom prst="roundRect">
            <a:avLst/>
          </a:prstGeom>
          <a:solidFill>
            <a:srgbClr val="031F34"/>
          </a:solidFill>
          <a:ln w="12700">
            <a:solidFill>
              <a:srgbClr val="00B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41248" y="1833879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dirty="0" err="1">
                <a:solidFill>
                  <a:srgbClr val="00DCEB"/>
                </a:solidFill>
                <a:latin typeface="Aptos"/>
              </a:rPr>
              <a:t>Profesora</a:t>
            </a:r>
            <a:endParaRPr sz="1000" b="1" dirty="0">
              <a:solidFill>
                <a:srgbClr val="00DCEB"/>
              </a:solidFill>
              <a:latin typeface="Apto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874519" y="1833879"/>
            <a:ext cx="3429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dirty="0">
                <a:solidFill>
                  <a:srgbClr val="FFFFFF"/>
                </a:solidFill>
                <a:latin typeface="Aptos"/>
              </a:rPr>
              <a:t>Gladys María Villegas Rugel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2263647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dirty="0">
                <a:solidFill>
                  <a:srgbClr val="00DCEB"/>
                </a:solidFill>
                <a:latin typeface="Aptos"/>
              </a:rPr>
              <a:t>Materia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74519" y="2263647"/>
            <a:ext cx="3429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dirty="0" err="1">
                <a:solidFill>
                  <a:srgbClr val="FFFFFF"/>
                </a:solidFill>
                <a:latin typeface="Aptos"/>
              </a:rPr>
              <a:t>Aprendizaje</a:t>
            </a:r>
            <a:r>
              <a:rPr sz="1400" b="1" dirty="0">
                <a:solidFill>
                  <a:srgbClr val="FFFFFF"/>
                </a:solidFill>
                <a:latin typeface="Aptos"/>
              </a:rPr>
              <a:t> </a:t>
            </a:r>
            <a:r>
              <a:rPr sz="1400" b="1" dirty="0" err="1">
                <a:solidFill>
                  <a:srgbClr val="FFFFFF"/>
                </a:solidFill>
                <a:latin typeface="Aptos"/>
              </a:rPr>
              <a:t>Automático</a:t>
            </a:r>
            <a:endParaRPr sz="1400" b="1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41248" y="2693414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DCEB"/>
                </a:solidFill>
                <a:latin typeface="Aptos"/>
              </a:rPr>
              <a:t>Tema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74519" y="2693414"/>
            <a:ext cx="3520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ptos"/>
              </a:rPr>
              <a:t>Explicabilidad, sesgo y ética en modelos supervisados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" y="3370071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DCEB"/>
                </a:solidFill>
                <a:latin typeface="Aptos"/>
              </a:rPr>
              <a:t>Fecha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74519" y="3370071"/>
            <a:ext cx="3429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tos"/>
              </a:rPr>
              <a:t>19/05/2026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30352" y="4064509"/>
            <a:ext cx="5303520" cy="2011680"/>
          </a:xfrm>
          <a:prstGeom prst="roundRect">
            <a:avLst/>
          </a:prstGeom>
          <a:solidFill>
            <a:srgbClr val="041725"/>
          </a:solidFill>
          <a:ln w="12700">
            <a:solidFill>
              <a:srgbClr val="D0A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69264" y="4268386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dirty="0" err="1">
                <a:solidFill>
                  <a:srgbClr val="FFCA5C"/>
                </a:solidFill>
                <a:latin typeface="Aptos"/>
              </a:rPr>
              <a:t>Alumnos</a:t>
            </a:r>
            <a:endParaRPr sz="1100" b="1" dirty="0">
              <a:solidFill>
                <a:srgbClr val="FFCA5C"/>
              </a:solidFill>
              <a:latin typeface="Apto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969264" y="4549141"/>
            <a:ext cx="4709160" cy="1234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</a:pPr>
            <a:r>
              <a:rPr sz="1400">
                <a:solidFill>
                  <a:srgbClr val="F5FCFF"/>
                </a:solidFill>
                <a:latin typeface="Aptos"/>
              </a:rPr>
              <a:t>Niko Dimitri Jiménez Bruno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F5FCFF"/>
                </a:solidFill>
                <a:latin typeface="Aptos"/>
              </a:rPr>
              <a:t>José Luis Peñafiel Fernández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F5FCFF"/>
                </a:solidFill>
                <a:latin typeface="Aptos"/>
              </a:rPr>
              <a:t>Juan Carlos Bajaña Gutiérrez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F5FCFF"/>
                </a:solidFill>
                <a:latin typeface="Aptos"/>
              </a:rPr>
              <a:t>Schubert Stalin Lombeida Manjarrez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199632"/>
            <a:ext cx="12191695" cy="384048"/>
          </a:xfrm>
          <a:prstGeom prst="rect">
            <a:avLst/>
          </a:prstGeom>
          <a:solidFill>
            <a:srgbClr val="000B17"/>
          </a:solidFill>
          <a:ln w="12700">
            <a:solidFill>
              <a:srgbClr val="000B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66928" y="63185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94B5C0"/>
                </a:solidFill>
                <a:latin typeface="Aptos"/>
              </a:rPr>
              <a:t>Grupo 12 · Taller práctico – Técnicas XAI · Dataset: salarios cervecería 2025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424160" y="6291072"/>
            <a:ext cx="1097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1">
                <a:solidFill>
                  <a:srgbClr val="FFCA5C"/>
                </a:solidFill>
                <a:latin typeface="Aptos"/>
              </a:rPr>
              <a:t>Carátula · 00</a:t>
            </a:r>
          </a:p>
        </p:txBody>
      </p:sp>
      <p:pic>
        <p:nvPicPr>
          <p:cNvPr id="7" name="Image 1" descr="/mnt/data/UEES_logo_cropped_transparent.png">
            <a:extLst>
              <a:ext uri="{FF2B5EF4-FFF2-40B4-BE49-F238E27FC236}">
                <a16:creationId xmlns:a16="http://schemas.microsoft.com/office/drawing/2014/main" id="{EF837704-EBCC-01D7-D47B-B312437537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82876" y="150878"/>
            <a:ext cx="1749552" cy="65157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1B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a_dark_futuristic_tech_business_background_sce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-305" y="4614333"/>
            <a:ext cx="12192000" cy="1759036"/>
          </a:xfrm>
          <a:prstGeom prst="rect">
            <a:avLst/>
          </a:prstGeom>
          <a:solidFill>
            <a:srgbClr val="010C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4" name="Picture 23" descr="ai_video_zone_b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320040"/>
            <a:ext cx="5166360" cy="2651760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0" y="6382512"/>
            <a:ext cx="12191695" cy="475488"/>
          </a:xfrm>
          <a:prstGeom prst="rect">
            <a:avLst/>
          </a:prstGeom>
          <a:solidFill>
            <a:srgbClr val="03111D"/>
          </a:solidFill>
          <a:ln w="12700">
            <a:solidFill>
              <a:srgbClr val="03111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411480" y="6382512"/>
            <a:ext cx="6400800" cy="0"/>
          </a:xfrm>
          <a:prstGeom prst="line">
            <a:avLst/>
          </a:prstGeom>
          <a:noFill/>
          <a:ln w="17780">
            <a:solidFill>
              <a:srgbClr val="00B7C7">
                <a:alpha val="8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040880" y="6382512"/>
            <a:ext cx="4480560" cy="0"/>
          </a:xfrm>
          <a:prstGeom prst="line">
            <a:avLst/>
          </a:prstGeom>
          <a:noFill/>
          <a:ln w="13970">
            <a:solidFill>
              <a:srgbClr val="D6A847">
                <a:alpha val="6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510528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9FB6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Taller colaborativo S4 · XAI, ética, sesgo y calidad de datos</a:t>
            </a:r>
            <a:endParaRPr lang="en-US" sz="780" dirty="0"/>
          </a:p>
        </p:txBody>
      </p:sp>
      <p:sp>
        <p:nvSpPr>
          <p:cNvPr id="6" name="Text 4"/>
          <p:cNvSpPr/>
          <p:nvPr/>
        </p:nvSpPr>
        <p:spPr>
          <a:xfrm>
            <a:off x="11201400" y="6501384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D6A847"/>
                </a:solidFill>
              </a:rPr>
              <a:t>Apertura · 01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6537960" y="514097"/>
            <a:ext cx="5285232" cy="2926080"/>
          </a:xfrm>
          <a:prstGeom prst="roundRect">
            <a:avLst>
              <a:gd name="adj" fmla="val 2500"/>
            </a:avLst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24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6720840" y="2980944"/>
            <a:ext cx="4937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DCE8F2">
                    <a:alpha val="42000"/>
                  </a:srgbClr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ESPACIO RESERVADO PARA VIDEO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594360" y="841248"/>
            <a:ext cx="5715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8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Portafolio XAI</a:t>
            </a:r>
            <a:endParaRPr lang="en-US" sz="3800" dirty="0"/>
          </a:p>
        </p:txBody>
      </p:sp>
      <p:sp>
        <p:nvSpPr>
          <p:cNvPr id="10" name="Shape 8"/>
          <p:cNvSpPr/>
          <p:nvPr/>
        </p:nvSpPr>
        <p:spPr>
          <a:xfrm>
            <a:off x="603504" y="2057400"/>
            <a:ext cx="4434840" cy="0"/>
          </a:xfrm>
          <a:prstGeom prst="line">
            <a:avLst/>
          </a:prstGeom>
          <a:noFill/>
          <a:ln w="38100">
            <a:solidFill>
              <a:srgbClr val="00B7C7">
                <a:alpha val="92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46304" y="2210815"/>
            <a:ext cx="6163056" cy="7498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" pitchFamily="34" charset="0"/>
                <a:ea typeface="Aptos" pitchFamily="34" charset="-122"/>
                <a:cs typeface="Aptos" pitchFamily="34" charset="-120"/>
              </a:rPr>
              <a:t>Modelo supervisado para predicción salarial: calidad de datos, sesgo, explicabilidad e interpretación ética.</a:t>
            </a:r>
            <a:endParaRPr lang="en-US" sz="2000" dirty="0">
              <a:solidFill>
                <a:schemeClr val="bg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2" name="Text 10"/>
          <p:cNvSpPr/>
          <p:nvPr/>
        </p:nvSpPr>
        <p:spPr>
          <a:xfrm>
            <a:off x="685800" y="3675888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68E0D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8.382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685800" y="4133088"/>
            <a:ext cx="1554480" cy="2926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880" dirty="0">
                <a:solidFill>
                  <a:srgbClr val="C7D2DE"/>
                </a:solidFill>
              </a:rPr>
              <a:t>registros analizados</a:t>
            </a:r>
            <a:endParaRPr lang="en-US" sz="880" dirty="0"/>
          </a:p>
        </p:txBody>
      </p:sp>
      <p:sp>
        <p:nvSpPr>
          <p:cNvPr id="14" name="Text 12"/>
          <p:cNvSpPr/>
          <p:nvPr/>
        </p:nvSpPr>
        <p:spPr>
          <a:xfrm>
            <a:off x="2606040" y="3675888"/>
            <a:ext cx="1417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D6A8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2606040" y="4133088"/>
            <a:ext cx="1417320" cy="2926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880" dirty="0">
                <a:solidFill>
                  <a:srgbClr val="C7D2DE"/>
                </a:solidFill>
              </a:rPr>
              <a:t>técnicas XAI</a:t>
            </a:r>
            <a:endParaRPr lang="en-US" sz="880" dirty="0"/>
          </a:p>
        </p:txBody>
      </p:sp>
      <p:sp>
        <p:nvSpPr>
          <p:cNvPr id="16" name="Text 14"/>
          <p:cNvSpPr/>
          <p:nvPr/>
        </p:nvSpPr>
        <p:spPr>
          <a:xfrm>
            <a:off x="4297680" y="3675888"/>
            <a:ext cx="1691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9A97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100%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4297680" y="4133088"/>
            <a:ext cx="1691640" cy="2926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880" dirty="0">
                <a:solidFill>
                  <a:srgbClr val="C7D2DE"/>
                </a:solidFill>
              </a:rPr>
              <a:t>métricas del modelo</a:t>
            </a:r>
            <a:endParaRPr lang="en-US" sz="880" dirty="0"/>
          </a:p>
        </p:txBody>
      </p:sp>
      <p:sp>
        <p:nvSpPr>
          <p:cNvPr id="18" name="Text 16"/>
          <p:cNvSpPr/>
          <p:nvPr/>
        </p:nvSpPr>
        <p:spPr>
          <a:xfrm>
            <a:off x="6327648" y="3675888"/>
            <a:ext cx="1600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68E0D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0.0285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6327648" y="4133088"/>
            <a:ext cx="1600200" cy="2926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880" dirty="0">
                <a:solidFill>
                  <a:srgbClr val="C7D2DE"/>
                </a:solidFill>
              </a:rPr>
              <a:t>brecha paridad</a:t>
            </a:r>
            <a:endParaRPr lang="en-US" sz="880" dirty="0"/>
          </a:p>
        </p:txBody>
      </p:sp>
      <p:sp>
        <p:nvSpPr>
          <p:cNvPr id="20" name="Shape 18"/>
          <p:cNvSpPr/>
          <p:nvPr/>
        </p:nvSpPr>
        <p:spPr>
          <a:xfrm>
            <a:off x="713232" y="4828032"/>
            <a:ext cx="8046720" cy="822960"/>
          </a:xfrm>
          <a:prstGeom prst="roundRect">
            <a:avLst>
              <a:gd name="adj" fmla="val 8889"/>
            </a:avLst>
          </a:prstGeom>
          <a:solidFill>
            <a:srgbClr val="FFFFFF">
              <a:alpha val="8000"/>
            </a:srgbClr>
          </a:solidFill>
          <a:ln w="15240">
            <a:solidFill>
              <a:srgbClr val="00B7C7">
                <a:alpha val="8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877824" y="4937760"/>
            <a:ext cx="7717536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30" dirty="0">
                <a:solidFill>
                  <a:srgbClr val="F8FAFC"/>
                </a:solidFill>
              </a:rPr>
              <a:t>Mensaje central: la precisión perfecta no basta. XAI revela si el modelo aprende una señal legítima o una dependencia metodológica riesgosa.</a:t>
            </a:r>
            <a:endParaRPr lang="en-US" sz="1130" dirty="0"/>
          </a:p>
        </p:txBody>
      </p:sp>
      <p:pic>
        <p:nvPicPr>
          <p:cNvPr id="25" name="Image 1" descr="/mnt/data/UEES_logo_cropped_transparent.png">
            <a:extLst>
              <a:ext uri="{FF2B5EF4-FFF2-40B4-BE49-F238E27FC236}">
                <a16:creationId xmlns:a16="http://schemas.microsoft.com/office/drawing/2014/main" id="{A96D8FE9-9F34-F94F-34B8-2838FD63D7F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6906" y="41990"/>
            <a:ext cx="854828" cy="31835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61B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 descr="a_dark_futuristic_tech_business_background_sce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5" name="Rectangle 24"/>
          <p:cNvSpPr/>
          <p:nvPr/>
        </p:nvSpPr>
        <p:spPr>
          <a:xfrm>
            <a:off x="0" y="3302007"/>
            <a:ext cx="12192000" cy="6858000"/>
          </a:xfrm>
          <a:prstGeom prst="rect">
            <a:avLst/>
          </a:prstGeom>
          <a:solidFill>
            <a:srgbClr val="010C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6" name="Picture 25" descr="ai_video_zone_b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320040"/>
            <a:ext cx="5166360" cy="2651760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0" y="6382512"/>
            <a:ext cx="12191695" cy="475488"/>
          </a:xfrm>
          <a:prstGeom prst="rect">
            <a:avLst/>
          </a:prstGeom>
          <a:solidFill>
            <a:srgbClr val="03111D"/>
          </a:solidFill>
          <a:ln w="12700">
            <a:solidFill>
              <a:srgbClr val="03111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411480" y="6382512"/>
            <a:ext cx="6400800" cy="0"/>
          </a:xfrm>
          <a:prstGeom prst="line">
            <a:avLst/>
          </a:prstGeom>
          <a:noFill/>
          <a:ln w="17780">
            <a:solidFill>
              <a:srgbClr val="00B7C7">
                <a:alpha val="8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040880" y="6382512"/>
            <a:ext cx="4480560" cy="0"/>
          </a:xfrm>
          <a:prstGeom prst="line">
            <a:avLst/>
          </a:prstGeom>
          <a:noFill/>
          <a:ln w="13970">
            <a:solidFill>
              <a:srgbClr val="D6A847">
                <a:alpha val="6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510528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9FB6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Taller colaborativo S4 · XAI, ética, sesgo y calidad de datos</a:t>
            </a:r>
            <a:endParaRPr lang="en-US" sz="780" dirty="0"/>
          </a:p>
        </p:txBody>
      </p:sp>
      <p:sp>
        <p:nvSpPr>
          <p:cNvPr id="6" name="Text 4"/>
          <p:cNvSpPr/>
          <p:nvPr/>
        </p:nvSpPr>
        <p:spPr>
          <a:xfrm>
            <a:off x="11201400" y="6501384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D6A847"/>
                </a:solidFill>
              </a:rPr>
              <a:t>Datos · 03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6537960" y="412498"/>
            <a:ext cx="5285232" cy="2926080"/>
          </a:xfrm>
          <a:prstGeom prst="roundRect">
            <a:avLst>
              <a:gd name="adj" fmla="val 2500"/>
            </a:avLst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24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6720840" y="2980944"/>
            <a:ext cx="4937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DCE8F2">
                    <a:alpha val="42000"/>
                  </a:srgbClr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ESPACIO RESERVADO PARA VIDEO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566928" y="347472"/>
            <a:ext cx="5623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b="1" dirty="0">
                <a:solidFill>
                  <a:srgbClr val="68E0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PREDICCIÓN SALARIAL</a:t>
            </a:r>
            <a:endParaRPr lang="en-US" sz="880" dirty="0"/>
          </a:p>
        </p:txBody>
      </p:sp>
      <p:sp>
        <p:nvSpPr>
          <p:cNvPr id="10" name="Text 8"/>
          <p:cNvSpPr/>
          <p:nvPr/>
        </p:nvSpPr>
        <p:spPr>
          <a:xfrm>
            <a:off x="548640" y="603504"/>
            <a:ext cx="5989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Problema y variable objetivo</a:t>
            </a:r>
            <a:endParaRPr lang="en-US" sz="2500" dirty="0"/>
          </a:p>
        </p:txBody>
      </p:sp>
      <p:sp>
        <p:nvSpPr>
          <p:cNvPr id="11" name="Shape 9"/>
          <p:cNvSpPr/>
          <p:nvPr/>
        </p:nvSpPr>
        <p:spPr>
          <a:xfrm>
            <a:off x="621792" y="1453896"/>
            <a:ext cx="91440" cy="91440"/>
          </a:xfrm>
          <a:prstGeom prst="ellipse">
            <a:avLst/>
          </a:prstGeom>
          <a:solidFill>
            <a:srgbClr val="00B7C7"/>
          </a:solidFill>
          <a:ln w="12700">
            <a:solidFill>
              <a:srgbClr val="00B7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822960" y="1417320"/>
            <a:ext cx="5239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F8FAFC"/>
                </a:solidFill>
              </a:rPr>
              <a:t>Objetivo analítico: predecir si el ingreso anual supera USD 40.000.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21792" y="1837944"/>
            <a:ext cx="91440" cy="91440"/>
          </a:xfrm>
          <a:prstGeom prst="ellipse">
            <a:avLst/>
          </a:prstGeom>
          <a:solidFill>
            <a:srgbClr val="00B7C7"/>
          </a:solidFill>
          <a:ln w="12700">
            <a:solidFill>
              <a:srgbClr val="00B7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822960" y="1801368"/>
            <a:ext cx="5239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F8FAFC"/>
                </a:solidFill>
              </a:rPr>
              <a:t>Variable objetivo: GanaMas40K = 1 si SalarioTotalConBeneficios × 12 &gt; 40K.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21792" y="2221992"/>
            <a:ext cx="91440" cy="91440"/>
          </a:xfrm>
          <a:prstGeom prst="ellipse">
            <a:avLst/>
          </a:prstGeom>
          <a:solidFill>
            <a:srgbClr val="00B7C7"/>
          </a:solidFill>
          <a:ln w="12700">
            <a:solidFill>
              <a:srgbClr val="00B7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822960" y="2185416"/>
            <a:ext cx="5239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F8FAFC"/>
                </a:solidFill>
              </a:rPr>
              <a:t>El dataset contiene variables salariales, laborales, contractuales y sexo.</a:t>
            </a:r>
            <a:endParaRPr lang="en-US" sz="1150" dirty="0"/>
          </a:p>
        </p:txBody>
      </p:sp>
      <p:pic>
        <p:nvPicPr>
          <p:cNvPr id="17" name="Image 0" descr="/mnt/data/Grupo12_Taller_XAI_S4/assets/figures/01_distribucion_objetiv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93262" y="3354019"/>
            <a:ext cx="4170892" cy="2651760"/>
          </a:xfrm>
          <a:prstGeom prst="rect">
            <a:avLst/>
          </a:prstGeom>
          <a:effectLst>
            <a:outerShdw blurRad="25400" dist="19050" dir="2700000" algn="bl" rotWithShape="0">
              <a:srgbClr val="000000">
                <a:alpha val="28000"/>
              </a:srgbClr>
            </a:outerShdw>
          </a:effectLst>
        </p:spPr>
      </p:pic>
      <p:sp>
        <p:nvSpPr>
          <p:cNvPr id="18" name="Text 15"/>
          <p:cNvSpPr/>
          <p:nvPr/>
        </p:nvSpPr>
        <p:spPr>
          <a:xfrm>
            <a:off x="6537960" y="3657600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9A97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83.668%</a:t>
            </a:r>
            <a:endParaRPr lang="en-US" sz="2400" dirty="0"/>
          </a:p>
        </p:txBody>
      </p:sp>
      <p:sp>
        <p:nvSpPr>
          <p:cNvPr id="19" name="Text 16"/>
          <p:cNvSpPr/>
          <p:nvPr/>
        </p:nvSpPr>
        <p:spPr>
          <a:xfrm>
            <a:off x="6537960" y="4114800"/>
            <a:ext cx="1554480" cy="2926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880" dirty="0">
                <a:solidFill>
                  <a:srgbClr val="C7D2DE"/>
                </a:solidFill>
              </a:rPr>
              <a:t>clase &gt; USD 40K</a:t>
            </a:r>
            <a:endParaRPr lang="en-US" sz="880" dirty="0"/>
          </a:p>
        </p:txBody>
      </p:sp>
      <p:sp>
        <p:nvSpPr>
          <p:cNvPr id="20" name="Text 17"/>
          <p:cNvSpPr/>
          <p:nvPr/>
        </p:nvSpPr>
        <p:spPr>
          <a:xfrm>
            <a:off x="8229600" y="3657600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D6A8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16.55%</a:t>
            </a:r>
            <a:endParaRPr lang="en-US" sz="2400" dirty="0"/>
          </a:p>
        </p:txBody>
      </p:sp>
      <p:sp>
        <p:nvSpPr>
          <p:cNvPr id="21" name="Text 18"/>
          <p:cNvSpPr/>
          <p:nvPr/>
        </p:nvSpPr>
        <p:spPr>
          <a:xfrm>
            <a:off x="8229600" y="4114800"/>
            <a:ext cx="1554480" cy="2926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880" dirty="0">
                <a:solidFill>
                  <a:srgbClr val="C7D2DE"/>
                </a:solidFill>
              </a:rPr>
              <a:t>clase ≤ USD 40K</a:t>
            </a:r>
            <a:endParaRPr lang="en-US" sz="880" dirty="0"/>
          </a:p>
        </p:txBody>
      </p:sp>
      <p:sp>
        <p:nvSpPr>
          <p:cNvPr id="22" name="Shape 19"/>
          <p:cNvSpPr/>
          <p:nvPr/>
        </p:nvSpPr>
        <p:spPr>
          <a:xfrm>
            <a:off x="6446520" y="4709160"/>
            <a:ext cx="4297680" cy="685800"/>
          </a:xfrm>
          <a:prstGeom prst="roundRect">
            <a:avLst>
              <a:gd name="adj" fmla="val 10667"/>
            </a:avLst>
          </a:prstGeom>
          <a:solidFill>
            <a:srgbClr val="FFFFFF">
              <a:alpha val="8000"/>
            </a:srgbClr>
          </a:solidFill>
          <a:ln w="15240">
            <a:solidFill>
              <a:srgbClr val="00B7C7">
                <a:alpha val="8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0"/>
          <p:cNvSpPr/>
          <p:nvPr/>
        </p:nvSpPr>
        <p:spPr>
          <a:xfrm>
            <a:off x="6611112" y="4818888"/>
            <a:ext cx="3968496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30" dirty="0">
                <a:solidFill>
                  <a:srgbClr val="F8FAFC"/>
                </a:solidFill>
              </a:rPr>
              <a:t>La clase positiva domina el dataset. Por eso se compara el modelo contra un baseline de clase mayoritaria.</a:t>
            </a:r>
            <a:endParaRPr lang="en-US" sz="1130" dirty="0"/>
          </a:p>
        </p:txBody>
      </p:sp>
      <p:pic>
        <p:nvPicPr>
          <p:cNvPr id="27" name="Image 1" descr="/mnt/data/UEES_logo_cropped_transparent.png">
            <a:extLst>
              <a:ext uri="{FF2B5EF4-FFF2-40B4-BE49-F238E27FC236}">
                <a16:creationId xmlns:a16="http://schemas.microsoft.com/office/drawing/2014/main" id="{36B9613E-B040-80C4-5634-D4C26E9CD93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276906" y="41990"/>
            <a:ext cx="854828" cy="31835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61B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Picture 35" descr="a_dark_futuristic_tech_business_background_sce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7" name="Rectangle 3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C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8" name="Picture 37" descr="ai_video_zone_b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320040"/>
            <a:ext cx="5166360" cy="2651760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0" y="6382512"/>
            <a:ext cx="12191695" cy="475488"/>
          </a:xfrm>
          <a:prstGeom prst="rect">
            <a:avLst/>
          </a:prstGeom>
          <a:solidFill>
            <a:srgbClr val="03111D"/>
          </a:solidFill>
          <a:ln w="12700">
            <a:solidFill>
              <a:srgbClr val="03111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411480" y="6382512"/>
            <a:ext cx="6400800" cy="0"/>
          </a:xfrm>
          <a:prstGeom prst="line">
            <a:avLst/>
          </a:prstGeom>
          <a:noFill/>
          <a:ln w="17780">
            <a:solidFill>
              <a:srgbClr val="00B7C7">
                <a:alpha val="8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040880" y="6382512"/>
            <a:ext cx="4480560" cy="0"/>
          </a:xfrm>
          <a:prstGeom prst="line">
            <a:avLst/>
          </a:prstGeom>
          <a:noFill/>
          <a:ln w="13970">
            <a:solidFill>
              <a:srgbClr val="D6A847">
                <a:alpha val="6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510528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9FB6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Taller colaborativo S4 · XAI, ética, sesgo y calidad de datos</a:t>
            </a:r>
            <a:endParaRPr lang="en-US" sz="780" dirty="0"/>
          </a:p>
        </p:txBody>
      </p:sp>
      <p:sp>
        <p:nvSpPr>
          <p:cNvPr id="6" name="Text 4"/>
          <p:cNvSpPr/>
          <p:nvPr/>
        </p:nvSpPr>
        <p:spPr>
          <a:xfrm>
            <a:off x="11201400" y="6501384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D6A847"/>
                </a:solidFill>
              </a:rPr>
              <a:t>Metodología · 04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6537960" y="395566"/>
            <a:ext cx="5285232" cy="2926080"/>
          </a:xfrm>
          <a:prstGeom prst="roundRect">
            <a:avLst>
              <a:gd name="adj" fmla="val 2500"/>
            </a:avLst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24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6720840" y="2980944"/>
            <a:ext cx="4937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DCE8F2">
                    <a:alpha val="42000"/>
                  </a:srgbClr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ESPACIO RESERVADO PARA VIDEO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566928" y="347472"/>
            <a:ext cx="5623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b="1" dirty="0">
                <a:solidFill>
                  <a:srgbClr val="68E0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PIPELINE DEL PROYECTO</a:t>
            </a:r>
            <a:endParaRPr lang="en-US" sz="880" dirty="0"/>
          </a:p>
        </p:txBody>
      </p:sp>
      <p:sp>
        <p:nvSpPr>
          <p:cNvPr id="10" name="Text 8"/>
          <p:cNvSpPr/>
          <p:nvPr/>
        </p:nvSpPr>
        <p:spPr>
          <a:xfrm>
            <a:off x="548640" y="603504"/>
            <a:ext cx="5989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Flujo metodológico completo</a:t>
            </a:r>
            <a:endParaRPr lang="en-US" sz="2500" dirty="0"/>
          </a:p>
        </p:txBody>
      </p:sp>
      <p:sp>
        <p:nvSpPr>
          <p:cNvPr id="11" name="Shape 9"/>
          <p:cNvSpPr/>
          <p:nvPr/>
        </p:nvSpPr>
        <p:spPr>
          <a:xfrm>
            <a:off x="685800" y="1563624"/>
            <a:ext cx="310896" cy="310896"/>
          </a:xfrm>
          <a:prstGeom prst="ellipse">
            <a:avLst/>
          </a:prstGeom>
          <a:solidFill>
            <a:srgbClr val="00B7C7"/>
          </a:solidFill>
          <a:ln w="12700">
            <a:solidFill>
              <a:srgbClr val="00B7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685800" y="1609344"/>
            <a:ext cx="3108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61B2C"/>
                </a:solidFill>
              </a:rPr>
              <a:t>1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1106424" y="1536192"/>
            <a:ext cx="213969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F8FAFC"/>
                </a:solidFill>
              </a:rPr>
              <a:t>Carga y auditoría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106424" y="1783080"/>
            <a:ext cx="21396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C7D2DE"/>
                </a:solidFill>
              </a:rPr>
              <a:t>Dimensiones, columnas, faltantes y variables sensibles.</a:t>
            </a:r>
            <a:endParaRPr lang="en-US" sz="980" dirty="0"/>
          </a:p>
        </p:txBody>
      </p:sp>
      <p:sp>
        <p:nvSpPr>
          <p:cNvPr id="15" name="Shape 13"/>
          <p:cNvSpPr/>
          <p:nvPr/>
        </p:nvSpPr>
        <p:spPr>
          <a:xfrm>
            <a:off x="3611880" y="1563624"/>
            <a:ext cx="310896" cy="310896"/>
          </a:xfrm>
          <a:prstGeom prst="ellipse">
            <a:avLst/>
          </a:prstGeom>
          <a:solidFill>
            <a:srgbClr val="D6A847"/>
          </a:solidFill>
          <a:ln w="12700">
            <a:solidFill>
              <a:srgbClr val="D6A84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3611880" y="1609344"/>
            <a:ext cx="3108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61B2C"/>
                </a:solidFill>
              </a:rPr>
              <a:t>2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032504" y="1536192"/>
            <a:ext cx="204825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F8FAFC"/>
                </a:solidFill>
              </a:rPr>
              <a:t>Etiqueta binaria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032504" y="1783080"/>
            <a:ext cx="20482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C7D2DE"/>
                </a:solidFill>
              </a:rPr>
              <a:t>Construcción de GanaMas40K desde el ingreso anual.</a:t>
            </a:r>
            <a:endParaRPr lang="en-US" sz="980" dirty="0"/>
          </a:p>
        </p:txBody>
      </p:sp>
      <p:sp>
        <p:nvSpPr>
          <p:cNvPr id="19" name="Shape 17"/>
          <p:cNvSpPr/>
          <p:nvPr/>
        </p:nvSpPr>
        <p:spPr>
          <a:xfrm>
            <a:off x="685800" y="2331720"/>
            <a:ext cx="310896" cy="310896"/>
          </a:xfrm>
          <a:prstGeom prst="ellipse">
            <a:avLst/>
          </a:prstGeom>
          <a:solidFill>
            <a:srgbClr val="19A974"/>
          </a:solidFill>
          <a:ln w="12700">
            <a:solidFill>
              <a:srgbClr val="19A97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685800" y="2377440"/>
            <a:ext cx="3108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61B2C"/>
                </a:solidFill>
              </a:rPr>
              <a:t>3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1106424" y="2304288"/>
            <a:ext cx="223113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F8FAFC"/>
                </a:solidFill>
              </a:rPr>
              <a:t>Preprocesamiento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106424" y="2551176"/>
            <a:ext cx="22311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C7D2DE"/>
                </a:solidFill>
              </a:rPr>
              <a:t>Imputación, escalamiento, One-Hot y eliminación de identificadores.</a:t>
            </a:r>
            <a:endParaRPr lang="en-US" sz="980" dirty="0"/>
          </a:p>
        </p:txBody>
      </p:sp>
      <p:sp>
        <p:nvSpPr>
          <p:cNvPr id="23" name="Shape 21"/>
          <p:cNvSpPr/>
          <p:nvPr/>
        </p:nvSpPr>
        <p:spPr>
          <a:xfrm>
            <a:off x="3611880" y="2331720"/>
            <a:ext cx="310896" cy="310896"/>
          </a:xfrm>
          <a:prstGeom prst="ellipse">
            <a:avLst/>
          </a:prstGeom>
          <a:solidFill>
            <a:srgbClr val="00B7C7"/>
          </a:solidFill>
          <a:ln w="12700">
            <a:solidFill>
              <a:srgbClr val="00B7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22"/>
          <p:cNvSpPr/>
          <p:nvPr/>
        </p:nvSpPr>
        <p:spPr>
          <a:xfrm>
            <a:off x="3611880" y="2377440"/>
            <a:ext cx="3108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61B2C"/>
                </a:solidFill>
              </a:rPr>
              <a:t>4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032504" y="2304288"/>
            <a:ext cx="209397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F8FAFC"/>
                </a:solidFill>
              </a:rPr>
              <a:t>Entrenamiento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032504" y="2551176"/>
            <a:ext cx="2093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C7D2DE"/>
                </a:solidFill>
              </a:rPr>
              <a:t>Random Forest con entrenamiento/prueba estratificado 80/20.</a:t>
            </a:r>
            <a:endParaRPr lang="en-US" sz="980" dirty="0"/>
          </a:p>
        </p:txBody>
      </p:sp>
      <p:sp>
        <p:nvSpPr>
          <p:cNvPr id="27" name="Shape 25"/>
          <p:cNvSpPr/>
          <p:nvPr/>
        </p:nvSpPr>
        <p:spPr>
          <a:xfrm>
            <a:off x="685800" y="3456432"/>
            <a:ext cx="310896" cy="310896"/>
          </a:xfrm>
          <a:prstGeom prst="ellipse">
            <a:avLst/>
          </a:prstGeom>
          <a:solidFill>
            <a:srgbClr val="D6A847"/>
          </a:solidFill>
          <a:ln w="12700">
            <a:solidFill>
              <a:srgbClr val="D6A84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Text 26"/>
          <p:cNvSpPr/>
          <p:nvPr/>
        </p:nvSpPr>
        <p:spPr>
          <a:xfrm>
            <a:off x="685800" y="3502152"/>
            <a:ext cx="3108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61B2C"/>
                </a:solidFill>
              </a:rPr>
              <a:t>5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1106424" y="3429000"/>
            <a:ext cx="227685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F8FAFC"/>
                </a:solidFill>
              </a:rPr>
              <a:t>Evaluación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106424" y="3675888"/>
            <a:ext cx="2276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C7D2DE"/>
                </a:solidFill>
              </a:rPr>
              <a:t>Métricas de desempeño, matriz de confusión y equidad por sexo.</a:t>
            </a:r>
            <a:endParaRPr lang="en-US" sz="980" dirty="0"/>
          </a:p>
        </p:txBody>
      </p:sp>
      <p:sp>
        <p:nvSpPr>
          <p:cNvPr id="31" name="Shape 29"/>
          <p:cNvSpPr/>
          <p:nvPr/>
        </p:nvSpPr>
        <p:spPr>
          <a:xfrm>
            <a:off x="3611880" y="3456432"/>
            <a:ext cx="310896" cy="310896"/>
          </a:xfrm>
          <a:prstGeom prst="ellipse">
            <a:avLst/>
          </a:prstGeom>
          <a:solidFill>
            <a:srgbClr val="19A974"/>
          </a:solidFill>
          <a:ln w="12700">
            <a:solidFill>
              <a:srgbClr val="19A97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Text 30"/>
          <p:cNvSpPr/>
          <p:nvPr/>
        </p:nvSpPr>
        <p:spPr>
          <a:xfrm>
            <a:off x="3611880" y="3502152"/>
            <a:ext cx="3108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61B2C"/>
                </a:solidFill>
              </a:rPr>
              <a:t>6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4032504" y="3429000"/>
            <a:ext cx="213969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F8FAFC"/>
                </a:solidFill>
              </a:rPr>
              <a:t>XAI + ética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032504" y="3675888"/>
            <a:ext cx="21396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C7D2DE"/>
                </a:solidFill>
              </a:rPr>
              <a:t>PFI, SHAP, LIME e interpretación responsable del riesgo.</a:t>
            </a:r>
            <a:endParaRPr lang="en-US" sz="980" dirty="0"/>
          </a:p>
        </p:txBody>
      </p:sp>
      <p:pic>
        <p:nvPicPr>
          <p:cNvPr id="35" name="Image 0" descr="/mnt/data/Grupo12_Taller_XAI_S4/assets/figures/10_comparacion_pfi_sha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7959" y="3493008"/>
            <a:ext cx="4798907" cy="2851290"/>
          </a:xfrm>
          <a:prstGeom prst="rect">
            <a:avLst/>
          </a:prstGeom>
          <a:effectLst>
            <a:outerShdw blurRad="25400" dist="19050" dir="2700000" algn="bl" rotWithShape="0">
              <a:srgbClr val="000000">
                <a:alpha val="28000"/>
              </a:srgbClr>
            </a:outerShdw>
          </a:effectLst>
        </p:spPr>
      </p:pic>
      <p:pic>
        <p:nvPicPr>
          <p:cNvPr id="39" name="Image 1" descr="/mnt/data/UEES_logo_cropped_transparent.png">
            <a:extLst>
              <a:ext uri="{FF2B5EF4-FFF2-40B4-BE49-F238E27FC236}">
                <a16:creationId xmlns:a16="http://schemas.microsoft.com/office/drawing/2014/main" id="{AEE85F79-2C74-6D27-21B9-507C84DD90D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276906" y="41990"/>
            <a:ext cx="854828" cy="31835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61B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 descr="a_dark_futuristic_tech_business_background_sce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5" name="Rectangle 2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C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6" name="Picture 25" descr="ai_video_zone_b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320040"/>
            <a:ext cx="5166360" cy="2651760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0" y="6382512"/>
            <a:ext cx="12191695" cy="475488"/>
          </a:xfrm>
          <a:prstGeom prst="rect">
            <a:avLst/>
          </a:prstGeom>
          <a:solidFill>
            <a:srgbClr val="03111D"/>
          </a:solidFill>
          <a:ln w="12700">
            <a:solidFill>
              <a:srgbClr val="03111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411480" y="6382512"/>
            <a:ext cx="6400800" cy="0"/>
          </a:xfrm>
          <a:prstGeom prst="line">
            <a:avLst/>
          </a:prstGeom>
          <a:noFill/>
          <a:ln w="17780">
            <a:solidFill>
              <a:srgbClr val="00B7C7">
                <a:alpha val="8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040880" y="6382512"/>
            <a:ext cx="4480560" cy="0"/>
          </a:xfrm>
          <a:prstGeom prst="line">
            <a:avLst/>
          </a:prstGeom>
          <a:noFill/>
          <a:ln w="13970">
            <a:solidFill>
              <a:srgbClr val="D6A847">
                <a:alpha val="6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510528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9FB6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Taller colaborativo S4 · XAI, ética, sesgo y calidad de datos</a:t>
            </a:r>
            <a:endParaRPr lang="en-US" sz="780" dirty="0"/>
          </a:p>
        </p:txBody>
      </p:sp>
      <p:sp>
        <p:nvSpPr>
          <p:cNvPr id="6" name="Text 4"/>
          <p:cNvSpPr/>
          <p:nvPr/>
        </p:nvSpPr>
        <p:spPr>
          <a:xfrm>
            <a:off x="11201400" y="6501384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D6A847"/>
                </a:solidFill>
              </a:rPr>
              <a:t>Calidad · 05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6537960" y="556430"/>
            <a:ext cx="5285232" cy="2926080"/>
          </a:xfrm>
          <a:prstGeom prst="roundRect">
            <a:avLst>
              <a:gd name="adj" fmla="val 2500"/>
            </a:avLst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24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6720840" y="2980944"/>
            <a:ext cx="4937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DCE8F2">
                    <a:alpha val="42000"/>
                  </a:srgbClr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ESPACIO RESERVADO PARA VIDEO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566928" y="347472"/>
            <a:ext cx="5623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b="1" dirty="0">
                <a:solidFill>
                  <a:srgbClr val="68E0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AUDITORÍA INICIAL</a:t>
            </a:r>
            <a:endParaRPr lang="en-US" sz="880" dirty="0"/>
          </a:p>
        </p:txBody>
      </p:sp>
      <p:sp>
        <p:nvSpPr>
          <p:cNvPr id="10" name="Text 8"/>
          <p:cNvSpPr/>
          <p:nvPr/>
        </p:nvSpPr>
        <p:spPr>
          <a:xfrm>
            <a:off x="548640" y="603504"/>
            <a:ext cx="5989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Calidad de datos y preparación</a:t>
            </a:r>
            <a:endParaRPr lang="en-US" sz="2500" dirty="0"/>
          </a:p>
        </p:txBody>
      </p:sp>
      <p:sp>
        <p:nvSpPr>
          <p:cNvPr id="11" name="Shape 9"/>
          <p:cNvSpPr/>
          <p:nvPr/>
        </p:nvSpPr>
        <p:spPr>
          <a:xfrm>
            <a:off x="621792" y="1517904"/>
            <a:ext cx="91440" cy="91440"/>
          </a:xfrm>
          <a:prstGeom prst="ellipse">
            <a:avLst/>
          </a:prstGeom>
          <a:solidFill>
            <a:srgbClr val="D6A847"/>
          </a:solidFill>
          <a:ln w="12700">
            <a:solidFill>
              <a:srgbClr val="D6A84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822960" y="1481328"/>
            <a:ext cx="5148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F8FAFC"/>
                </a:solidFill>
              </a:rPr>
              <a:t>8.382 filas y 15 columnas originales.</a:t>
            </a:r>
            <a:endParaRPr lang="en-US" sz="1120" dirty="0"/>
          </a:p>
        </p:txBody>
      </p:sp>
      <p:sp>
        <p:nvSpPr>
          <p:cNvPr id="13" name="Shape 11"/>
          <p:cNvSpPr/>
          <p:nvPr/>
        </p:nvSpPr>
        <p:spPr>
          <a:xfrm>
            <a:off x="621792" y="1865376"/>
            <a:ext cx="91440" cy="91440"/>
          </a:xfrm>
          <a:prstGeom prst="ellipse">
            <a:avLst/>
          </a:prstGeom>
          <a:solidFill>
            <a:srgbClr val="D6A847"/>
          </a:solidFill>
          <a:ln w="12700">
            <a:solidFill>
              <a:srgbClr val="D6A84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822960" y="1828800"/>
            <a:ext cx="5148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F8FAFC"/>
                </a:solidFill>
              </a:rPr>
              <a:t>Se eliminan ID, NombreEmpleado y Notas por privacidad o falta de valor analítico.</a:t>
            </a:r>
            <a:endParaRPr lang="en-US" sz="1120" dirty="0"/>
          </a:p>
        </p:txBody>
      </p:sp>
      <p:sp>
        <p:nvSpPr>
          <p:cNvPr id="15" name="Shape 13"/>
          <p:cNvSpPr/>
          <p:nvPr/>
        </p:nvSpPr>
        <p:spPr>
          <a:xfrm>
            <a:off x="621792" y="2212848"/>
            <a:ext cx="91440" cy="91440"/>
          </a:xfrm>
          <a:prstGeom prst="ellipse">
            <a:avLst/>
          </a:prstGeom>
          <a:solidFill>
            <a:srgbClr val="D6A847"/>
          </a:solidFill>
          <a:ln w="12700">
            <a:solidFill>
              <a:srgbClr val="D6A84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822960" y="2176272"/>
            <a:ext cx="5148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F8FAFC"/>
                </a:solidFill>
              </a:rPr>
              <a:t>HorasExtra, Beneficios y TipoContrato presentan faltantes.</a:t>
            </a:r>
            <a:endParaRPr lang="en-US" sz="1120" dirty="0"/>
          </a:p>
        </p:txBody>
      </p:sp>
      <p:sp>
        <p:nvSpPr>
          <p:cNvPr id="17" name="Shape 15"/>
          <p:cNvSpPr/>
          <p:nvPr/>
        </p:nvSpPr>
        <p:spPr>
          <a:xfrm>
            <a:off x="621792" y="2560320"/>
            <a:ext cx="91440" cy="91440"/>
          </a:xfrm>
          <a:prstGeom prst="ellipse">
            <a:avLst/>
          </a:prstGeom>
          <a:solidFill>
            <a:srgbClr val="D6A847"/>
          </a:solidFill>
          <a:ln w="12700">
            <a:solidFill>
              <a:srgbClr val="D6A84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822960" y="2523744"/>
            <a:ext cx="5148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F8FAFC"/>
                </a:solidFill>
              </a:rPr>
              <a:t>Riesgo crítico: SalarioTotalConBeneficios también construye la etiqueta.</a:t>
            </a:r>
            <a:endParaRPr lang="en-US" sz="1120" dirty="0"/>
          </a:p>
        </p:txBody>
      </p:sp>
      <p:pic>
        <p:nvPicPr>
          <p:cNvPr id="19" name="Image 0" descr="/mnt/data/Grupo12_Taller_XAI_S4/assets/figures/02_valores_faltante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6551" y="3438144"/>
            <a:ext cx="4705442" cy="2606040"/>
          </a:xfrm>
          <a:prstGeom prst="rect">
            <a:avLst/>
          </a:prstGeom>
          <a:effectLst>
            <a:outerShdw blurRad="25400" dist="19050" dir="2700000" algn="bl" rotWithShape="0">
              <a:srgbClr val="000000">
                <a:alpha val="28000"/>
              </a:srgbClr>
            </a:outerShdw>
          </a:effectLst>
        </p:spPr>
      </p:pic>
      <p:sp>
        <p:nvSpPr>
          <p:cNvPr id="20" name="Shape 17"/>
          <p:cNvSpPr/>
          <p:nvPr/>
        </p:nvSpPr>
        <p:spPr>
          <a:xfrm>
            <a:off x="6309360" y="3794760"/>
            <a:ext cx="4800600" cy="758952"/>
          </a:xfrm>
          <a:prstGeom prst="roundRect">
            <a:avLst>
              <a:gd name="adj" fmla="val 9639"/>
            </a:avLst>
          </a:prstGeom>
          <a:solidFill>
            <a:srgbClr val="FFFFFF">
              <a:alpha val="8000"/>
            </a:srgbClr>
          </a:solidFill>
          <a:ln w="15240">
            <a:solidFill>
              <a:srgbClr val="D6A847">
                <a:alpha val="8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8"/>
          <p:cNvSpPr/>
          <p:nvPr/>
        </p:nvSpPr>
        <p:spPr>
          <a:xfrm>
            <a:off x="6473952" y="3904488"/>
            <a:ext cx="4471416" cy="5577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30" dirty="0">
                <a:solidFill>
                  <a:srgbClr val="F8FAFC"/>
                </a:solidFill>
              </a:rPr>
              <a:t>Interpretación: la limpieza no es solo técnica; también reduce riesgos de privacidad y evita decisiones automatizadas sobre identificadores personales.</a:t>
            </a:r>
            <a:endParaRPr lang="en-US" sz="1130" dirty="0"/>
          </a:p>
        </p:txBody>
      </p:sp>
      <p:sp>
        <p:nvSpPr>
          <p:cNvPr id="22" name="Shape 19"/>
          <p:cNvSpPr/>
          <p:nvPr/>
        </p:nvSpPr>
        <p:spPr>
          <a:xfrm>
            <a:off x="6309360" y="4800600"/>
            <a:ext cx="4800600" cy="822960"/>
          </a:xfrm>
          <a:prstGeom prst="roundRect">
            <a:avLst>
              <a:gd name="adj" fmla="val 8889"/>
            </a:avLst>
          </a:prstGeom>
          <a:solidFill>
            <a:srgbClr val="FFFFFF">
              <a:alpha val="8000"/>
            </a:srgbClr>
          </a:solidFill>
          <a:ln w="15240">
            <a:solidFill>
              <a:srgbClr val="FF6B6B">
                <a:alpha val="8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0"/>
          <p:cNvSpPr/>
          <p:nvPr/>
        </p:nvSpPr>
        <p:spPr>
          <a:xfrm>
            <a:off x="6473952" y="4910328"/>
            <a:ext cx="4471416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30" dirty="0">
                <a:solidFill>
                  <a:srgbClr val="F8FAFC"/>
                </a:solidFill>
              </a:rPr>
              <a:t>Advertencia metodológica: la presencia de SalarioTotalConBeneficios puede generar fuga de información y explicar métricas perfectas.</a:t>
            </a:r>
            <a:endParaRPr lang="en-US" sz="1130" dirty="0"/>
          </a:p>
        </p:txBody>
      </p:sp>
      <p:pic>
        <p:nvPicPr>
          <p:cNvPr id="27" name="Image 1" descr="/mnt/data/UEES_logo_cropped_transparent.png">
            <a:extLst>
              <a:ext uri="{FF2B5EF4-FFF2-40B4-BE49-F238E27FC236}">
                <a16:creationId xmlns:a16="http://schemas.microsoft.com/office/drawing/2014/main" id="{C2B48B6F-0097-0A05-D26B-2754A1741B4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276906" y="41990"/>
            <a:ext cx="854828" cy="31835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61B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 descr="a_dark_futuristic_tech_business_background_sce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0" y="3285076"/>
            <a:ext cx="12192000" cy="6858000"/>
          </a:xfrm>
          <a:prstGeom prst="rect">
            <a:avLst/>
          </a:prstGeom>
          <a:solidFill>
            <a:srgbClr val="010C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Picture 20" descr="ai_video_zone_b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320040"/>
            <a:ext cx="5166360" cy="2651760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0" y="6382512"/>
            <a:ext cx="12191695" cy="475488"/>
          </a:xfrm>
          <a:prstGeom prst="rect">
            <a:avLst/>
          </a:prstGeom>
          <a:solidFill>
            <a:srgbClr val="03111D"/>
          </a:solidFill>
          <a:ln w="12700">
            <a:solidFill>
              <a:srgbClr val="03111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411480" y="6382512"/>
            <a:ext cx="6400800" cy="0"/>
          </a:xfrm>
          <a:prstGeom prst="line">
            <a:avLst/>
          </a:prstGeom>
          <a:noFill/>
          <a:ln w="17780">
            <a:solidFill>
              <a:srgbClr val="00B7C7">
                <a:alpha val="8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040880" y="6382512"/>
            <a:ext cx="4480560" cy="0"/>
          </a:xfrm>
          <a:prstGeom prst="line">
            <a:avLst/>
          </a:prstGeom>
          <a:noFill/>
          <a:ln w="13970">
            <a:solidFill>
              <a:srgbClr val="D6A847">
                <a:alpha val="6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510528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9FB6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Taller colaborativo S4 · XAI, ética, sesgo y calidad de datos</a:t>
            </a:r>
            <a:endParaRPr lang="en-US" sz="780" dirty="0"/>
          </a:p>
        </p:txBody>
      </p:sp>
      <p:sp>
        <p:nvSpPr>
          <p:cNvPr id="6" name="Text 4"/>
          <p:cNvSpPr/>
          <p:nvPr/>
        </p:nvSpPr>
        <p:spPr>
          <a:xfrm>
            <a:off x="11201400" y="6501384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D6A847"/>
                </a:solidFill>
              </a:rPr>
              <a:t>Sesgo · 06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6537960" y="310896"/>
            <a:ext cx="5285232" cy="2926080"/>
          </a:xfrm>
          <a:prstGeom prst="roundRect">
            <a:avLst>
              <a:gd name="adj" fmla="val 2500"/>
            </a:avLst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24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6720840" y="2980944"/>
            <a:ext cx="4937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DCE8F2">
                    <a:alpha val="42000"/>
                  </a:srgbClr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ESPACIO RESERVADO PARA VIDEO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566928" y="347472"/>
            <a:ext cx="5623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b="1" dirty="0">
                <a:solidFill>
                  <a:srgbClr val="68E0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ANÁLISIS EXPLORATORIO</a:t>
            </a:r>
            <a:endParaRPr lang="en-US" sz="880" dirty="0"/>
          </a:p>
        </p:txBody>
      </p:sp>
      <p:sp>
        <p:nvSpPr>
          <p:cNvPr id="10" name="Text 8"/>
          <p:cNvSpPr/>
          <p:nvPr/>
        </p:nvSpPr>
        <p:spPr>
          <a:xfrm>
            <a:off x="548640" y="603504"/>
            <a:ext cx="5989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Auditoría inicial de sesgo por sexo</a:t>
            </a:r>
            <a:endParaRPr lang="en-US" sz="2500" dirty="0"/>
          </a:p>
        </p:txBody>
      </p:sp>
      <p:sp>
        <p:nvSpPr>
          <p:cNvPr id="11" name="Shape 9"/>
          <p:cNvSpPr/>
          <p:nvPr/>
        </p:nvSpPr>
        <p:spPr>
          <a:xfrm>
            <a:off x="621792" y="1517904"/>
            <a:ext cx="91440" cy="91440"/>
          </a:xfrm>
          <a:prstGeom prst="ellipse">
            <a:avLst/>
          </a:prstGeom>
          <a:solidFill>
            <a:srgbClr val="00B7C7"/>
          </a:solidFill>
          <a:ln w="12700">
            <a:solidFill>
              <a:srgbClr val="00B7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822960" y="1481328"/>
            <a:ext cx="5193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F8FAFC"/>
                </a:solidFill>
              </a:rPr>
              <a:t>Representación casi equilibrada: 4.229 registros femeninos y 4.153 masculinos.</a:t>
            </a:r>
            <a:endParaRPr lang="en-US" sz="1120" dirty="0"/>
          </a:p>
        </p:txBody>
      </p:sp>
      <p:sp>
        <p:nvSpPr>
          <p:cNvPr id="13" name="Shape 11"/>
          <p:cNvSpPr/>
          <p:nvPr/>
        </p:nvSpPr>
        <p:spPr>
          <a:xfrm>
            <a:off x="621792" y="1883664"/>
            <a:ext cx="91440" cy="91440"/>
          </a:xfrm>
          <a:prstGeom prst="ellipse">
            <a:avLst/>
          </a:prstGeom>
          <a:solidFill>
            <a:srgbClr val="00B7C7"/>
          </a:solidFill>
          <a:ln w="12700">
            <a:solidFill>
              <a:srgbClr val="00B7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822960" y="1847088"/>
            <a:ext cx="5193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F8FAFC"/>
                </a:solidFill>
              </a:rPr>
              <a:t>La diferencia de ingreso promedio observada es cercana a USD 1.019.</a:t>
            </a:r>
            <a:endParaRPr lang="en-US" sz="1120" dirty="0"/>
          </a:p>
        </p:txBody>
      </p:sp>
      <p:sp>
        <p:nvSpPr>
          <p:cNvPr id="15" name="Shape 13"/>
          <p:cNvSpPr/>
          <p:nvPr/>
        </p:nvSpPr>
        <p:spPr>
          <a:xfrm>
            <a:off x="621792" y="2249424"/>
            <a:ext cx="91440" cy="91440"/>
          </a:xfrm>
          <a:prstGeom prst="ellipse">
            <a:avLst/>
          </a:prstGeom>
          <a:solidFill>
            <a:srgbClr val="00B7C7"/>
          </a:solidFill>
          <a:ln w="12700">
            <a:solidFill>
              <a:srgbClr val="00B7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822960" y="2212848"/>
            <a:ext cx="5193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F8FAFC"/>
                </a:solidFill>
              </a:rPr>
              <a:t>La tasa que supera 40K es similar entre grupos, pero debe monitorearse.</a:t>
            </a:r>
            <a:endParaRPr lang="en-US" sz="1120" dirty="0"/>
          </a:p>
        </p:txBody>
      </p:sp>
      <p:pic>
        <p:nvPicPr>
          <p:cNvPr id="17" name="Image 0" descr="/mnt/data/Grupo12_Taller_XAI_S4/assets/figures/03_ingreso_promedio_por_sex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0817" y="3354019"/>
            <a:ext cx="4118583" cy="2615184"/>
          </a:xfrm>
          <a:prstGeom prst="rect">
            <a:avLst/>
          </a:prstGeom>
          <a:effectLst>
            <a:outerShdw blurRad="25400" dist="19050" dir="2700000" algn="bl" rotWithShape="0">
              <a:srgbClr val="000000">
                <a:alpha val="28000"/>
              </a:srgbClr>
            </a:outerShdw>
          </a:effectLst>
        </p:spPr>
      </p:pic>
      <p:pic>
        <p:nvPicPr>
          <p:cNvPr id="18" name="Image 1" descr="/mnt/data/Grupo12_Taller_XAI_S4/assets/figures/04_brecha_umbral_40k_por_sex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71756" y="3354019"/>
            <a:ext cx="4110048" cy="2615184"/>
          </a:xfrm>
          <a:prstGeom prst="rect">
            <a:avLst/>
          </a:prstGeom>
          <a:effectLst>
            <a:outerShdw blurRad="25400" dist="19050" dir="2700000" algn="bl" rotWithShape="0">
              <a:srgbClr val="000000">
                <a:alpha val="28000"/>
              </a:srgbClr>
            </a:outerShdw>
          </a:effec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61B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27" descr="a_dark_futuristic_tech_business_background_sce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9" name="Rectangle 2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C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0" name="Picture 29" descr="ai_video_zone_b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320040"/>
            <a:ext cx="5166360" cy="2651760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0" y="6382512"/>
            <a:ext cx="12191695" cy="475488"/>
          </a:xfrm>
          <a:prstGeom prst="rect">
            <a:avLst/>
          </a:prstGeom>
          <a:solidFill>
            <a:srgbClr val="03111D"/>
          </a:solidFill>
          <a:ln w="12700">
            <a:solidFill>
              <a:srgbClr val="03111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411480" y="6382512"/>
            <a:ext cx="6400800" cy="0"/>
          </a:xfrm>
          <a:prstGeom prst="line">
            <a:avLst/>
          </a:prstGeom>
          <a:noFill/>
          <a:ln w="17780">
            <a:solidFill>
              <a:srgbClr val="00B7C7">
                <a:alpha val="8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040880" y="6382512"/>
            <a:ext cx="4480560" cy="0"/>
          </a:xfrm>
          <a:prstGeom prst="line">
            <a:avLst/>
          </a:prstGeom>
          <a:noFill/>
          <a:ln w="13970">
            <a:solidFill>
              <a:srgbClr val="D6A847">
                <a:alpha val="6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510528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9FB6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Taller colaborativo S4 · XAI, ética, sesgo y calidad de datos</a:t>
            </a:r>
            <a:endParaRPr lang="en-US" sz="780" dirty="0"/>
          </a:p>
        </p:txBody>
      </p:sp>
      <p:sp>
        <p:nvSpPr>
          <p:cNvPr id="6" name="Text 4"/>
          <p:cNvSpPr/>
          <p:nvPr/>
        </p:nvSpPr>
        <p:spPr>
          <a:xfrm>
            <a:off x="11201400" y="6501384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D6A847"/>
                </a:solidFill>
              </a:rPr>
              <a:t>Modelo · 07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6537960" y="310896"/>
            <a:ext cx="5285232" cy="2926080"/>
          </a:xfrm>
          <a:prstGeom prst="roundRect">
            <a:avLst>
              <a:gd name="adj" fmla="val 2500"/>
            </a:avLst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24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6720840" y="2980944"/>
            <a:ext cx="4937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DCE8F2">
                    <a:alpha val="42000"/>
                  </a:srgbClr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ESPACIO RESERVADO PARA VIDEO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566928" y="347472"/>
            <a:ext cx="5623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b="1" dirty="0">
                <a:solidFill>
                  <a:srgbClr val="68E0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RANDOM FOREST</a:t>
            </a:r>
            <a:endParaRPr lang="en-US" sz="880" dirty="0"/>
          </a:p>
        </p:txBody>
      </p:sp>
      <p:sp>
        <p:nvSpPr>
          <p:cNvPr id="10" name="Text 8"/>
          <p:cNvSpPr/>
          <p:nvPr/>
        </p:nvSpPr>
        <p:spPr>
          <a:xfrm>
            <a:off x="548640" y="603504"/>
            <a:ext cx="5989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Ejecución del modelo supervisado</a:t>
            </a:r>
            <a:endParaRPr lang="en-US" sz="2500" dirty="0"/>
          </a:p>
        </p:txBody>
      </p:sp>
      <p:sp>
        <p:nvSpPr>
          <p:cNvPr id="11" name="Shape 9"/>
          <p:cNvSpPr/>
          <p:nvPr/>
        </p:nvSpPr>
        <p:spPr>
          <a:xfrm>
            <a:off x="621792" y="1517904"/>
            <a:ext cx="91440" cy="91440"/>
          </a:xfrm>
          <a:prstGeom prst="ellipse">
            <a:avLst/>
          </a:prstGeom>
          <a:solidFill>
            <a:srgbClr val="00B7C7"/>
          </a:solidFill>
          <a:ln w="12700">
            <a:solidFill>
              <a:srgbClr val="00B7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822960" y="1481328"/>
            <a:ext cx="5193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110" dirty="0">
                <a:solidFill>
                  <a:srgbClr val="F8FAFC"/>
                </a:solidFill>
              </a:rPr>
              <a:t>Modelo del notebook: RandomForestRegressor usado como clasificador mediante umbral 0.5.</a:t>
            </a:r>
            <a:endParaRPr lang="en-US" sz="1110" dirty="0"/>
          </a:p>
        </p:txBody>
      </p:sp>
      <p:sp>
        <p:nvSpPr>
          <p:cNvPr id="13" name="Shape 11"/>
          <p:cNvSpPr/>
          <p:nvPr/>
        </p:nvSpPr>
        <p:spPr>
          <a:xfrm>
            <a:off x="621792" y="1865376"/>
            <a:ext cx="91440" cy="91440"/>
          </a:xfrm>
          <a:prstGeom prst="ellipse">
            <a:avLst/>
          </a:prstGeom>
          <a:solidFill>
            <a:srgbClr val="00B7C7"/>
          </a:solidFill>
          <a:ln w="12700">
            <a:solidFill>
              <a:srgbClr val="00B7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822960" y="1828800"/>
            <a:ext cx="5193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10" dirty="0">
                <a:solidFill>
                  <a:srgbClr val="F8FAFC"/>
                </a:solidFill>
              </a:rPr>
              <a:t>Configuración: 150 árboles, profundidad máxima 10, random_state = 42.</a:t>
            </a:r>
            <a:endParaRPr lang="en-US" sz="1110" dirty="0"/>
          </a:p>
        </p:txBody>
      </p:sp>
      <p:sp>
        <p:nvSpPr>
          <p:cNvPr id="15" name="Shape 13"/>
          <p:cNvSpPr/>
          <p:nvPr/>
        </p:nvSpPr>
        <p:spPr>
          <a:xfrm>
            <a:off x="621792" y="2212848"/>
            <a:ext cx="91440" cy="91440"/>
          </a:xfrm>
          <a:prstGeom prst="ellipse">
            <a:avLst/>
          </a:prstGeom>
          <a:solidFill>
            <a:srgbClr val="00B7C7"/>
          </a:solidFill>
          <a:ln w="12700">
            <a:solidFill>
              <a:srgbClr val="00B7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822960" y="2176272"/>
            <a:ext cx="5193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10" dirty="0">
                <a:solidFill>
                  <a:srgbClr val="F8FAFC"/>
                </a:solidFill>
              </a:rPr>
              <a:t>División 80/20 estratificada: 6.705 entrenamiento y 1.677 prueba.</a:t>
            </a:r>
            <a:endParaRPr lang="en-US" sz="1110" dirty="0"/>
          </a:p>
        </p:txBody>
      </p:sp>
      <p:sp>
        <p:nvSpPr>
          <p:cNvPr id="17" name="Shape 15"/>
          <p:cNvSpPr/>
          <p:nvPr/>
        </p:nvSpPr>
        <p:spPr>
          <a:xfrm>
            <a:off x="621792" y="2560320"/>
            <a:ext cx="91440" cy="91440"/>
          </a:xfrm>
          <a:prstGeom prst="ellipse">
            <a:avLst/>
          </a:prstGeom>
          <a:solidFill>
            <a:srgbClr val="00B7C7"/>
          </a:solidFill>
          <a:ln w="12700">
            <a:solidFill>
              <a:srgbClr val="00B7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822960" y="2523744"/>
            <a:ext cx="5193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10" dirty="0">
                <a:solidFill>
                  <a:srgbClr val="F8FAFC"/>
                </a:solidFill>
              </a:rPr>
              <a:t>Mitigación simple: ponderación de registros femeninos con peso 1.2.</a:t>
            </a:r>
            <a:endParaRPr lang="en-US" sz="1110" dirty="0"/>
          </a:p>
        </p:txBody>
      </p:sp>
      <p:sp>
        <p:nvSpPr>
          <p:cNvPr id="19" name="Text 17"/>
          <p:cNvSpPr/>
          <p:nvPr/>
        </p:nvSpPr>
        <p:spPr>
          <a:xfrm>
            <a:off x="868680" y="3675888"/>
            <a:ext cx="1325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68E0D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6.705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868680" y="4133088"/>
            <a:ext cx="1325880" cy="2926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880" dirty="0">
                <a:solidFill>
                  <a:srgbClr val="C7D2DE"/>
                </a:solidFill>
              </a:rPr>
              <a:t>train</a:t>
            </a:r>
            <a:endParaRPr lang="en-US" sz="880" dirty="0"/>
          </a:p>
        </p:txBody>
      </p:sp>
      <p:sp>
        <p:nvSpPr>
          <p:cNvPr id="21" name="Text 19"/>
          <p:cNvSpPr/>
          <p:nvPr/>
        </p:nvSpPr>
        <p:spPr>
          <a:xfrm>
            <a:off x="2496312" y="3675888"/>
            <a:ext cx="1325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D6A8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1.677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2496312" y="4133088"/>
            <a:ext cx="1325880" cy="2926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880" dirty="0">
                <a:solidFill>
                  <a:srgbClr val="C7D2DE"/>
                </a:solidFill>
              </a:rPr>
              <a:t>test</a:t>
            </a:r>
            <a:endParaRPr lang="en-US" sz="880" dirty="0"/>
          </a:p>
        </p:txBody>
      </p:sp>
      <p:sp>
        <p:nvSpPr>
          <p:cNvPr id="23" name="Text 21"/>
          <p:cNvSpPr/>
          <p:nvPr/>
        </p:nvSpPr>
        <p:spPr>
          <a:xfrm>
            <a:off x="4078224" y="3675888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9A97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0.5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4078224" y="4133088"/>
            <a:ext cx="1234440" cy="2926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880" dirty="0">
                <a:solidFill>
                  <a:srgbClr val="C7D2DE"/>
                </a:solidFill>
              </a:rPr>
              <a:t>umbral</a:t>
            </a:r>
            <a:endParaRPr lang="en-US" sz="880" dirty="0"/>
          </a:p>
        </p:txBody>
      </p:sp>
      <p:sp>
        <p:nvSpPr>
          <p:cNvPr id="25" name="Shape 23"/>
          <p:cNvSpPr/>
          <p:nvPr/>
        </p:nvSpPr>
        <p:spPr>
          <a:xfrm>
            <a:off x="786384" y="4809744"/>
            <a:ext cx="5440680" cy="713232"/>
          </a:xfrm>
          <a:prstGeom prst="roundRect">
            <a:avLst>
              <a:gd name="adj" fmla="val 10256"/>
            </a:avLst>
          </a:prstGeom>
          <a:solidFill>
            <a:srgbClr val="FFFFFF">
              <a:alpha val="8000"/>
            </a:srgbClr>
          </a:solidFill>
          <a:ln w="15240">
            <a:solidFill>
              <a:srgbClr val="00B7C7">
                <a:alpha val="8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950976" y="4919472"/>
            <a:ext cx="5111496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30" dirty="0">
                <a:solidFill>
                  <a:srgbClr val="F8FAFC"/>
                </a:solidFill>
              </a:rPr>
              <a:t>Lectura técnica: Random Forest tolera relaciones no lineales y funciona bien con variables tabulares codificadas; además permite aplicar PFI, SHAP y LIME.</a:t>
            </a:r>
            <a:endParaRPr lang="en-US" sz="1130" dirty="0"/>
          </a:p>
        </p:txBody>
      </p:sp>
      <p:pic>
        <p:nvPicPr>
          <p:cNvPr id="27" name="Image 0" descr="/mnt/data/Grupo12_Taller_XAI_S4/assets/figures/06_comparacion_modelos_baselin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97479" y="3456432"/>
            <a:ext cx="4535257" cy="2487168"/>
          </a:xfrm>
          <a:prstGeom prst="rect">
            <a:avLst/>
          </a:prstGeom>
          <a:effectLst>
            <a:outerShdw blurRad="25400" dist="19050" dir="2700000" algn="bl" rotWithShape="0">
              <a:srgbClr val="000000">
                <a:alpha val="28000"/>
              </a:srgbClr>
            </a:outerShdw>
          </a:effec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61B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 descr="a_dark_futuristic_tech_business_background_sce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4" name="Rectangle 23"/>
          <p:cNvSpPr/>
          <p:nvPr/>
        </p:nvSpPr>
        <p:spPr>
          <a:xfrm>
            <a:off x="0" y="3285069"/>
            <a:ext cx="12192000" cy="6858000"/>
          </a:xfrm>
          <a:prstGeom prst="rect">
            <a:avLst/>
          </a:prstGeom>
          <a:solidFill>
            <a:srgbClr val="010C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5" name="Picture 24" descr="ai_video_zone_b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320040"/>
            <a:ext cx="5166360" cy="2651760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0" y="6382512"/>
            <a:ext cx="12191695" cy="475488"/>
          </a:xfrm>
          <a:prstGeom prst="rect">
            <a:avLst/>
          </a:prstGeom>
          <a:solidFill>
            <a:srgbClr val="03111D"/>
          </a:solidFill>
          <a:ln w="12700">
            <a:solidFill>
              <a:srgbClr val="03111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411480" y="6382512"/>
            <a:ext cx="6400800" cy="0"/>
          </a:xfrm>
          <a:prstGeom prst="line">
            <a:avLst/>
          </a:prstGeom>
          <a:noFill/>
          <a:ln w="17780">
            <a:solidFill>
              <a:srgbClr val="00B7C7">
                <a:alpha val="8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040880" y="6382512"/>
            <a:ext cx="4480560" cy="0"/>
          </a:xfrm>
          <a:prstGeom prst="line">
            <a:avLst/>
          </a:prstGeom>
          <a:noFill/>
          <a:ln w="13970">
            <a:solidFill>
              <a:srgbClr val="D6A847">
                <a:alpha val="6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510528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9FB6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Taller colaborativo S4 · XAI, ética, sesgo y calidad de datos</a:t>
            </a:r>
            <a:endParaRPr lang="en-US" sz="780" dirty="0"/>
          </a:p>
        </p:txBody>
      </p:sp>
      <p:sp>
        <p:nvSpPr>
          <p:cNvPr id="6" name="Text 4"/>
          <p:cNvSpPr/>
          <p:nvPr/>
        </p:nvSpPr>
        <p:spPr>
          <a:xfrm>
            <a:off x="11201400" y="6501384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D6A847"/>
                </a:solidFill>
              </a:rPr>
              <a:t>Resultados · 08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6537960" y="395566"/>
            <a:ext cx="5285232" cy="2926080"/>
          </a:xfrm>
          <a:prstGeom prst="roundRect">
            <a:avLst>
              <a:gd name="adj" fmla="val 2500"/>
            </a:avLst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24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6720840" y="2980944"/>
            <a:ext cx="4937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DCE8F2">
                    <a:alpha val="42000"/>
                  </a:srgbClr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ESPACIO RESERVADO PARA VIDEO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566928" y="347472"/>
            <a:ext cx="5623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b="1" dirty="0">
                <a:solidFill>
                  <a:srgbClr val="68E0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DESEMPEÑO PREDICTIVO</a:t>
            </a:r>
            <a:endParaRPr lang="en-US" sz="880" dirty="0"/>
          </a:p>
        </p:txBody>
      </p:sp>
      <p:sp>
        <p:nvSpPr>
          <p:cNvPr id="10" name="Text 8"/>
          <p:cNvSpPr/>
          <p:nvPr/>
        </p:nvSpPr>
        <p:spPr>
          <a:xfrm>
            <a:off x="548640" y="603504"/>
            <a:ext cx="5989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Resultados del modelo</a:t>
            </a:r>
            <a:endParaRPr lang="en-US" sz="2500" dirty="0"/>
          </a:p>
        </p:txBody>
      </p:sp>
      <p:sp>
        <p:nvSpPr>
          <p:cNvPr id="11" name="Text 9"/>
          <p:cNvSpPr/>
          <p:nvPr/>
        </p:nvSpPr>
        <p:spPr>
          <a:xfrm>
            <a:off x="658368" y="1554480"/>
            <a:ext cx="1325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9A97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1.0000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658368" y="2011680"/>
            <a:ext cx="1325880" cy="2926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880" dirty="0">
                <a:solidFill>
                  <a:srgbClr val="C7D2DE"/>
                </a:solidFill>
              </a:rPr>
              <a:t>accuracy</a:t>
            </a:r>
            <a:endParaRPr lang="en-US" sz="880" dirty="0"/>
          </a:p>
        </p:txBody>
      </p:sp>
      <p:sp>
        <p:nvSpPr>
          <p:cNvPr id="13" name="Text 11"/>
          <p:cNvSpPr/>
          <p:nvPr/>
        </p:nvSpPr>
        <p:spPr>
          <a:xfrm>
            <a:off x="2176272" y="1554480"/>
            <a:ext cx="1325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9A97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1.0000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2176272" y="2011680"/>
            <a:ext cx="1325880" cy="2926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880" dirty="0">
                <a:solidFill>
                  <a:srgbClr val="C7D2DE"/>
                </a:solidFill>
              </a:rPr>
              <a:t>precision</a:t>
            </a:r>
            <a:endParaRPr lang="en-US" sz="880" dirty="0"/>
          </a:p>
        </p:txBody>
      </p:sp>
      <p:sp>
        <p:nvSpPr>
          <p:cNvPr id="15" name="Text 13"/>
          <p:cNvSpPr/>
          <p:nvPr/>
        </p:nvSpPr>
        <p:spPr>
          <a:xfrm>
            <a:off x="3694176" y="1554480"/>
            <a:ext cx="1325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9A97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1.0000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3694176" y="2011680"/>
            <a:ext cx="1325880" cy="2926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880" dirty="0">
                <a:solidFill>
                  <a:srgbClr val="C7D2DE"/>
                </a:solidFill>
              </a:rPr>
              <a:t>recall</a:t>
            </a:r>
            <a:endParaRPr lang="en-US" sz="880" dirty="0"/>
          </a:p>
        </p:txBody>
      </p:sp>
      <p:sp>
        <p:nvSpPr>
          <p:cNvPr id="17" name="Text 15"/>
          <p:cNvSpPr/>
          <p:nvPr/>
        </p:nvSpPr>
        <p:spPr>
          <a:xfrm>
            <a:off x="5212080" y="1554480"/>
            <a:ext cx="1325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9A97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1.0000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5212080" y="2011680"/>
            <a:ext cx="1325880" cy="2926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880" dirty="0">
                <a:solidFill>
                  <a:srgbClr val="C7D2DE"/>
                </a:solidFill>
              </a:rPr>
              <a:t>F1-score</a:t>
            </a:r>
            <a:endParaRPr lang="en-US" sz="880" dirty="0"/>
          </a:p>
        </p:txBody>
      </p:sp>
      <p:pic>
        <p:nvPicPr>
          <p:cNvPr id="19" name="Image 0" descr="/mnt/data/Grupo12_Taller_XAI_S4/assets/figures/05_matriz_confusi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3300100"/>
            <a:ext cx="3703320" cy="2946136"/>
          </a:xfrm>
          <a:prstGeom prst="rect">
            <a:avLst/>
          </a:prstGeom>
          <a:effectLst>
            <a:outerShdw blurRad="25400" dist="19050" dir="2700000" algn="bl" rotWithShape="0">
              <a:srgbClr val="000000">
                <a:alpha val="28000"/>
              </a:srgbClr>
            </a:outerShdw>
          </a:effectLst>
        </p:spPr>
      </p:pic>
      <p:pic>
        <p:nvPicPr>
          <p:cNvPr id="20" name="Image 1" descr="/mnt/data/Grupo12_Taller_XAI_S4/assets/figures/06_comparacion_modelos_baselin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09035" y="3354019"/>
            <a:ext cx="4918753" cy="2697480"/>
          </a:xfrm>
          <a:prstGeom prst="rect">
            <a:avLst/>
          </a:prstGeom>
          <a:effectLst>
            <a:outerShdw blurRad="25400" dist="19050" dir="2700000" algn="bl" rotWithShape="0">
              <a:srgbClr val="000000">
                <a:alpha val="28000"/>
              </a:srgbClr>
            </a:outerShdw>
          </a:effectLst>
        </p:spPr>
      </p:pic>
      <p:sp>
        <p:nvSpPr>
          <p:cNvPr id="21" name="Shape 17"/>
          <p:cNvSpPr/>
          <p:nvPr/>
        </p:nvSpPr>
        <p:spPr>
          <a:xfrm>
            <a:off x="731520" y="2331720"/>
            <a:ext cx="5669280" cy="576072"/>
          </a:xfrm>
          <a:prstGeom prst="roundRect">
            <a:avLst>
              <a:gd name="adj" fmla="val 12698"/>
            </a:avLst>
          </a:prstGeom>
          <a:solidFill>
            <a:srgbClr val="FFFFFF">
              <a:alpha val="8000"/>
            </a:srgbClr>
          </a:solidFill>
          <a:ln w="15240">
            <a:solidFill>
              <a:srgbClr val="FF6B6B">
                <a:alpha val="8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18"/>
          <p:cNvSpPr/>
          <p:nvPr/>
        </p:nvSpPr>
        <p:spPr>
          <a:xfrm>
            <a:off x="896112" y="2441448"/>
            <a:ext cx="5340096" cy="3749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130" dirty="0">
                <a:solidFill>
                  <a:srgbClr val="F8FAFC"/>
                </a:solidFill>
              </a:rPr>
              <a:t>Interpretación: no hay errores en prueba, pero el resultado debe analizarse con cautela porque XAI evidencia dependencia de una variable directamente vinculada con la etiqueta.</a:t>
            </a:r>
            <a:endParaRPr lang="en-US" sz="1130" dirty="0"/>
          </a:p>
        </p:txBody>
      </p:sp>
      <p:pic>
        <p:nvPicPr>
          <p:cNvPr id="26" name="Image 1" descr="/mnt/data/UEES_logo_cropped_transparent.png">
            <a:extLst>
              <a:ext uri="{FF2B5EF4-FFF2-40B4-BE49-F238E27FC236}">
                <a16:creationId xmlns:a16="http://schemas.microsoft.com/office/drawing/2014/main" id="{298C85FC-FB22-A1C9-0FD8-F4A94115CF0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276906" y="41990"/>
            <a:ext cx="854828" cy="31835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61B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a_dark_futuristic_tech_business_background_sce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C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4" name="Picture 23" descr="ai_video_zone_b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320040"/>
            <a:ext cx="5166360" cy="2651760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0" y="6382512"/>
            <a:ext cx="12191695" cy="475488"/>
          </a:xfrm>
          <a:prstGeom prst="rect">
            <a:avLst/>
          </a:prstGeom>
          <a:solidFill>
            <a:srgbClr val="03111D"/>
          </a:solidFill>
          <a:ln w="12700">
            <a:solidFill>
              <a:srgbClr val="03111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411480" y="6382512"/>
            <a:ext cx="6400800" cy="0"/>
          </a:xfrm>
          <a:prstGeom prst="line">
            <a:avLst/>
          </a:prstGeom>
          <a:noFill/>
          <a:ln w="17780">
            <a:solidFill>
              <a:srgbClr val="00B7C7">
                <a:alpha val="8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040880" y="6382512"/>
            <a:ext cx="4480560" cy="0"/>
          </a:xfrm>
          <a:prstGeom prst="line">
            <a:avLst/>
          </a:prstGeom>
          <a:noFill/>
          <a:ln w="13970">
            <a:solidFill>
              <a:srgbClr val="D6A847">
                <a:alpha val="6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510528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9FB6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Taller colaborativo S4 · XAI, ética, sesgo y calidad de datos</a:t>
            </a:r>
            <a:endParaRPr lang="en-US" sz="780" dirty="0"/>
          </a:p>
        </p:txBody>
      </p:sp>
      <p:sp>
        <p:nvSpPr>
          <p:cNvPr id="6" name="Text 4"/>
          <p:cNvSpPr/>
          <p:nvPr/>
        </p:nvSpPr>
        <p:spPr>
          <a:xfrm>
            <a:off x="11201400" y="6501384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D6A847"/>
                </a:solidFill>
              </a:rPr>
              <a:t>Equidad · 09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6537960" y="404033"/>
            <a:ext cx="5285232" cy="2926080"/>
          </a:xfrm>
          <a:prstGeom prst="roundRect">
            <a:avLst>
              <a:gd name="adj" fmla="val 2500"/>
            </a:avLst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24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6720840" y="2980944"/>
            <a:ext cx="4937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DCE8F2">
                    <a:alpha val="42000"/>
                  </a:srgbClr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ESPACIO RESERVADO PARA VIDEO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566928" y="347472"/>
            <a:ext cx="5623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b="1" dirty="0">
                <a:solidFill>
                  <a:srgbClr val="68E0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MÉTRICAS POR SEXO</a:t>
            </a:r>
            <a:endParaRPr lang="en-US" sz="880" dirty="0"/>
          </a:p>
        </p:txBody>
      </p:sp>
      <p:sp>
        <p:nvSpPr>
          <p:cNvPr id="10" name="Text 8"/>
          <p:cNvSpPr/>
          <p:nvPr/>
        </p:nvSpPr>
        <p:spPr>
          <a:xfrm>
            <a:off x="548640" y="603504"/>
            <a:ext cx="5989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Evaluación de equidad</a:t>
            </a:r>
            <a:endParaRPr lang="en-US" sz="2500" dirty="0"/>
          </a:p>
        </p:txBody>
      </p:sp>
      <p:sp>
        <p:nvSpPr>
          <p:cNvPr id="11" name="Shape 9"/>
          <p:cNvSpPr/>
          <p:nvPr/>
        </p:nvSpPr>
        <p:spPr>
          <a:xfrm>
            <a:off x="621792" y="1433234"/>
            <a:ext cx="91440" cy="91440"/>
          </a:xfrm>
          <a:prstGeom prst="ellipse">
            <a:avLst/>
          </a:prstGeom>
          <a:solidFill>
            <a:srgbClr val="D6A847"/>
          </a:solidFill>
          <a:ln w="12700">
            <a:solidFill>
              <a:srgbClr val="D6A84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822960" y="1481328"/>
            <a:ext cx="5193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F8FAFC"/>
                </a:solidFill>
              </a:rPr>
              <a:t>Accuracy, precision y recall perfectos en ambos grupos del conjunto de prueba.</a:t>
            </a: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621792" y="1747517"/>
            <a:ext cx="91440" cy="91440"/>
          </a:xfrm>
          <a:prstGeom prst="ellipse">
            <a:avLst/>
          </a:prstGeom>
          <a:solidFill>
            <a:srgbClr val="D6A847"/>
          </a:solidFill>
          <a:ln w="12700">
            <a:solidFill>
              <a:srgbClr val="D6A84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822960" y="1837944"/>
            <a:ext cx="5193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F8FAFC"/>
                </a:solidFill>
              </a:rPr>
              <a:t>Diferencia de paridad demográfica: 0.0285.</a:t>
            </a: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621792" y="2273470"/>
            <a:ext cx="91440" cy="91440"/>
          </a:xfrm>
          <a:prstGeom prst="ellipse">
            <a:avLst/>
          </a:prstGeom>
          <a:solidFill>
            <a:srgbClr val="D6A847"/>
          </a:solidFill>
          <a:ln w="12700">
            <a:solidFill>
              <a:srgbClr val="D6A84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822960" y="2194560"/>
            <a:ext cx="5193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F8FAFC"/>
                </a:solidFill>
              </a:rPr>
              <a:t>Diferencia de igualdad de oportunidades: 0.0000.</a:t>
            </a: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621792" y="2528483"/>
            <a:ext cx="91440" cy="91440"/>
          </a:xfrm>
          <a:prstGeom prst="ellipse">
            <a:avLst/>
          </a:prstGeom>
          <a:solidFill>
            <a:srgbClr val="D6A847"/>
          </a:solidFill>
          <a:ln w="12700">
            <a:solidFill>
              <a:srgbClr val="D6A84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822960" y="2551176"/>
            <a:ext cx="5193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F8FAFC"/>
                </a:solidFill>
              </a:rPr>
              <a:t>La equidad aparente debe validarse sin fuga de información.</a:t>
            </a:r>
            <a:endParaRPr lang="en-US" dirty="0"/>
          </a:p>
        </p:txBody>
      </p:sp>
      <p:pic>
        <p:nvPicPr>
          <p:cNvPr id="19" name="Image 0" descr="/mnt/data/Grupo12_Taller_XAI_S4/assets/figures/07_metricas_equidad_por_sex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8445" y="3346704"/>
            <a:ext cx="4840898" cy="2651760"/>
          </a:xfrm>
          <a:prstGeom prst="rect">
            <a:avLst/>
          </a:prstGeom>
          <a:effectLst>
            <a:outerShdw blurRad="25400" dist="19050" dir="2700000" algn="bl" rotWithShape="0">
              <a:srgbClr val="000000">
                <a:alpha val="28000"/>
              </a:srgbClr>
            </a:outerShdw>
          </a:effectLst>
        </p:spPr>
      </p:pic>
      <p:sp>
        <p:nvSpPr>
          <p:cNvPr id="20" name="Shape 17"/>
          <p:cNvSpPr/>
          <p:nvPr/>
        </p:nvSpPr>
        <p:spPr>
          <a:xfrm>
            <a:off x="6976533" y="3657599"/>
            <a:ext cx="4682067" cy="1811867"/>
          </a:xfrm>
          <a:prstGeom prst="roundRect">
            <a:avLst>
              <a:gd name="adj" fmla="val 6780"/>
            </a:avLst>
          </a:prstGeom>
          <a:solidFill>
            <a:srgbClr val="FFFFFF">
              <a:alpha val="8000"/>
            </a:srgbClr>
          </a:solidFill>
          <a:ln w="15240">
            <a:solidFill>
              <a:srgbClr val="D6A847">
                <a:alpha val="8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8"/>
          <p:cNvSpPr/>
          <p:nvPr/>
        </p:nvSpPr>
        <p:spPr>
          <a:xfrm>
            <a:off x="7313845" y="4058582"/>
            <a:ext cx="4119709" cy="8778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F8FAFC"/>
                </a:solidFill>
              </a:rPr>
              <a:t>Interpretación: las métricas no muestran penalización directa por sexo, pero la evaluación debe repetirse con un diseño de variables más robusto.</a:t>
            </a:r>
            <a:endParaRPr lang="en-US" dirty="0"/>
          </a:p>
        </p:txBody>
      </p:sp>
      <p:pic>
        <p:nvPicPr>
          <p:cNvPr id="25" name="Image 1" descr="/mnt/data/UEES_logo_cropped_transparent.png">
            <a:extLst>
              <a:ext uri="{FF2B5EF4-FFF2-40B4-BE49-F238E27FC236}">
                <a16:creationId xmlns:a16="http://schemas.microsoft.com/office/drawing/2014/main" id="{BE158170-01A8-0391-434E-E5DE17DF7A4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276906" y="41990"/>
            <a:ext cx="854828" cy="31835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61B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 descr="a_dark_futuristic_tech_business_background_sce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0" y="3293544"/>
            <a:ext cx="12192000" cy="6858000"/>
          </a:xfrm>
          <a:prstGeom prst="rect">
            <a:avLst/>
          </a:prstGeom>
          <a:solidFill>
            <a:srgbClr val="010C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Picture 20" descr="ai_video_zone_b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320040"/>
            <a:ext cx="5166360" cy="2651760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0" y="6382512"/>
            <a:ext cx="12191695" cy="475488"/>
          </a:xfrm>
          <a:prstGeom prst="rect">
            <a:avLst/>
          </a:prstGeom>
          <a:solidFill>
            <a:srgbClr val="03111D"/>
          </a:solidFill>
          <a:ln w="12700">
            <a:solidFill>
              <a:srgbClr val="03111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411480" y="6382512"/>
            <a:ext cx="6400800" cy="0"/>
          </a:xfrm>
          <a:prstGeom prst="line">
            <a:avLst/>
          </a:prstGeom>
          <a:noFill/>
          <a:ln w="17780">
            <a:solidFill>
              <a:srgbClr val="00B7C7">
                <a:alpha val="8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040880" y="6382512"/>
            <a:ext cx="4480560" cy="0"/>
          </a:xfrm>
          <a:prstGeom prst="line">
            <a:avLst/>
          </a:prstGeom>
          <a:noFill/>
          <a:ln w="13970">
            <a:solidFill>
              <a:srgbClr val="D6A847">
                <a:alpha val="6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510528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9FB6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Taller colaborativo S4 · XAI, ética, sesgo y calidad de datos</a:t>
            </a:r>
            <a:endParaRPr lang="en-US" sz="780" dirty="0"/>
          </a:p>
        </p:txBody>
      </p:sp>
      <p:sp>
        <p:nvSpPr>
          <p:cNvPr id="6" name="Text 4"/>
          <p:cNvSpPr/>
          <p:nvPr/>
        </p:nvSpPr>
        <p:spPr>
          <a:xfrm>
            <a:off x="11201400" y="6501384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D6A847"/>
                </a:solidFill>
              </a:rPr>
              <a:t>XAI global · 10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6537960" y="395566"/>
            <a:ext cx="5285232" cy="2926080"/>
          </a:xfrm>
          <a:prstGeom prst="roundRect">
            <a:avLst>
              <a:gd name="adj" fmla="val 2500"/>
            </a:avLst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24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6720840" y="2980944"/>
            <a:ext cx="4937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DCE8F2">
                    <a:alpha val="42000"/>
                  </a:srgbClr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ESPACIO RESERVADO PARA VIDEO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566928" y="347472"/>
            <a:ext cx="5623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b="1" dirty="0">
                <a:solidFill>
                  <a:srgbClr val="68E0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PFI Y SHAP</a:t>
            </a:r>
            <a:endParaRPr lang="en-US" sz="880" dirty="0"/>
          </a:p>
        </p:txBody>
      </p:sp>
      <p:sp>
        <p:nvSpPr>
          <p:cNvPr id="10" name="Text 8"/>
          <p:cNvSpPr/>
          <p:nvPr/>
        </p:nvSpPr>
        <p:spPr>
          <a:xfrm>
            <a:off x="548640" y="603504"/>
            <a:ext cx="5989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Variables con mayor impacto</a:t>
            </a:r>
            <a:endParaRPr lang="en-US" sz="2500" dirty="0"/>
          </a:p>
        </p:txBody>
      </p:sp>
      <p:sp>
        <p:nvSpPr>
          <p:cNvPr id="11" name="Shape 9"/>
          <p:cNvSpPr/>
          <p:nvPr/>
        </p:nvSpPr>
        <p:spPr>
          <a:xfrm>
            <a:off x="621792" y="1517904"/>
            <a:ext cx="91440" cy="91440"/>
          </a:xfrm>
          <a:prstGeom prst="ellipse">
            <a:avLst/>
          </a:prstGeom>
          <a:solidFill>
            <a:srgbClr val="00B7C7"/>
          </a:solidFill>
          <a:ln w="12700">
            <a:solidFill>
              <a:srgbClr val="00B7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822960" y="1481328"/>
            <a:ext cx="5193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10" dirty="0">
                <a:solidFill>
                  <a:srgbClr val="F8FAFC"/>
                </a:solidFill>
              </a:rPr>
              <a:t>PFI mide cuánto cae el desempeño cuando una variable se permuta.</a:t>
            </a:r>
            <a:endParaRPr lang="en-US" sz="1110" dirty="0"/>
          </a:p>
        </p:txBody>
      </p:sp>
      <p:sp>
        <p:nvSpPr>
          <p:cNvPr id="13" name="Shape 11"/>
          <p:cNvSpPr/>
          <p:nvPr/>
        </p:nvSpPr>
        <p:spPr>
          <a:xfrm>
            <a:off x="621792" y="1883664"/>
            <a:ext cx="91440" cy="91440"/>
          </a:xfrm>
          <a:prstGeom prst="ellipse">
            <a:avLst/>
          </a:prstGeom>
          <a:solidFill>
            <a:srgbClr val="00B7C7"/>
          </a:solidFill>
          <a:ln w="12700">
            <a:solidFill>
              <a:srgbClr val="00B7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822960" y="1847088"/>
            <a:ext cx="5193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10" dirty="0">
                <a:solidFill>
                  <a:srgbClr val="F8FAFC"/>
                </a:solidFill>
              </a:rPr>
              <a:t>SHAP estima la contribución promedio de cada variable a las predicciones.</a:t>
            </a:r>
            <a:endParaRPr lang="en-US" sz="1110" dirty="0"/>
          </a:p>
        </p:txBody>
      </p:sp>
      <p:sp>
        <p:nvSpPr>
          <p:cNvPr id="15" name="Shape 13"/>
          <p:cNvSpPr/>
          <p:nvPr/>
        </p:nvSpPr>
        <p:spPr>
          <a:xfrm>
            <a:off x="621792" y="2249424"/>
            <a:ext cx="91440" cy="91440"/>
          </a:xfrm>
          <a:prstGeom prst="ellipse">
            <a:avLst/>
          </a:prstGeom>
          <a:solidFill>
            <a:srgbClr val="00B7C7"/>
          </a:solidFill>
          <a:ln w="12700">
            <a:solidFill>
              <a:srgbClr val="00B7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822960" y="2212848"/>
            <a:ext cx="5193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10" dirty="0">
                <a:solidFill>
                  <a:srgbClr val="F8FAFC"/>
                </a:solidFill>
              </a:rPr>
              <a:t>Ambas técnicas coinciden: SalarioTotalConBeneficios domina la explicación.</a:t>
            </a:r>
            <a:endParaRPr lang="en-US" sz="1110" dirty="0"/>
          </a:p>
        </p:txBody>
      </p:sp>
      <p:pic>
        <p:nvPicPr>
          <p:cNvPr id="17" name="Image 0" descr="/mnt/data/Grupo12_Taller_XAI_S4/assets/figures/08_permutation_feature_importanc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7145" y="3597724"/>
            <a:ext cx="4463085" cy="2651760"/>
          </a:xfrm>
          <a:prstGeom prst="rect">
            <a:avLst/>
          </a:prstGeom>
          <a:effectLst>
            <a:outerShdw blurRad="25400" dist="19050" dir="2700000" algn="bl" rotWithShape="0">
              <a:srgbClr val="000000">
                <a:alpha val="28000"/>
              </a:srgbClr>
            </a:outerShdw>
          </a:effectLst>
        </p:spPr>
      </p:pic>
      <p:pic>
        <p:nvPicPr>
          <p:cNvPr id="18" name="Image 1" descr="/mnt/data/Grupo12_Taller_XAI_S4/assets/figures/09_shap_importancia_globa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25317" y="3555391"/>
            <a:ext cx="4468103" cy="2651760"/>
          </a:xfrm>
          <a:prstGeom prst="rect">
            <a:avLst/>
          </a:prstGeom>
          <a:effectLst>
            <a:outerShdw blurRad="25400" dist="19050" dir="2700000" algn="bl" rotWithShape="0">
              <a:srgbClr val="000000">
                <a:alpha val="28000"/>
              </a:srgbClr>
            </a:outerShdw>
          </a:effectLst>
        </p:spPr>
      </p:pic>
      <p:pic>
        <p:nvPicPr>
          <p:cNvPr id="22" name="Image 1" descr="/mnt/data/UEES_logo_cropped_transparent.png">
            <a:extLst>
              <a:ext uri="{FF2B5EF4-FFF2-40B4-BE49-F238E27FC236}">
                <a16:creationId xmlns:a16="http://schemas.microsoft.com/office/drawing/2014/main" id="{EFE00FB2-5690-0664-AB7F-86710EA6032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276906" y="41990"/>
            <a:ext cx="854828" cy="31835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61B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 descr="a_dark_futuristic_tech_business_background_sce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C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Picture 20" descr="ai_video_zone_b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320040"/>
            <a:ext cx="5166360" cy="2651760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0" y="6382512"/>
            <a:ext cx="12191695" cy="475488"/>
          </a:xfrm>
          <a:prstGeom prst="rect">
            <a:avLst/>
          </a:prstGeom>
          <a:solidFill>
            <a:srgbClr val="03111D"/>
          </a:solidFill>
          <a:ln w="12700">
            <a:solidFill>
              <a:srgbClr val="03111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411480" y="6382512"/>
            <a:ext cx="6400800" cy="0"/>
          </a:xfrm>
          <a:prstGeom prst="line">
            <a:avLst/>
          </a:prstGeom>
          <a:noFill/>
          <a:ln w="17780">
            <a:solidFill>
              <a:srgbClr val="00B7C7">
                <a:alpha val="8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040880" y="6382512"/>
            <a:ext cx="4480560" cy="0"/>
          </a:xfrm>
          <a:prstGeom prst="line">
            <a:avLst/>
          </a:prstGeom>
          <a:noFill/>
          <a:ln w="13970">
            <a:solidFill>
              <a:srgbClr val="D6A847">
                <a:alpha val="6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510528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9FB6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Taller colaborativo S4 · XAI, ética, sesgo y calidad de datos</a:t>
            </a:r>
            <a:endParaRPr lang="en-US" sz="780" dirty="0"/>
          </a:p>
        </p:txBody>
      </p:sp>
      <p:sp>
        <p:nvSpPr>
          <p:cNvPr id="6" name="Text 4"/>
          <p:cNvSpPr/>
          <p:nvPr/>
        </p:nvSpPr>
        <p:spPr>
          <a:xfrm>
            <a:off x="11201400" y="6501384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D6A847"/>
                </a:solidFill>
              </a:rPr>
              <a:t>XAI local · 12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6537960" y="395566"/>
            <a:ext cx="5285232" cy="2926080"/>
          </a:xfrm>
          <a:prstGeom prst="roundRect">
            <a:avLst>
              <a:gd name="adj" fmla="val 2500"/>
            </a:avLst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24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6720840" y="2980944"/>
            <a:ext cx="4937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DCE8F2">
                    <a:alpha val="42000"/>
                  </a:srgbClr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ESPACIO RESERVADO PARA VIDEO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566928" y="347472"/>
            <a:ext cx="5623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b="1" dirty="0">
                <a:solidFill>
                  <a:srgbClr val="68E0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SHAP + LIME</a:t>
            </a:r>
            <a:endParaRPr lang="en-US" sz="880" dirty="0"/>
          </a:p>
        </p:txBody>
      </p:sp>
      <p:sp>
        <p:nvSpPr>
          <p:cNvPr id="10" name="Text 8"/>
          <p:cNvSpPr/>
          <p:nvPr/>
        </p:nvSpPr>
        <p:spPr>
          <a:xfrm>
            <a:off x="548640" y="603504"/>
            <a:ext cx="5989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Explicación individual: instancia 2</a:t>
            </a:r>
            <a:endParaRPr lang="en-US" sz="2500" dirty="0"/>
          </a:p>
        </p:txBody>
      </p:sp>
      <p:sp>
        <p:nvSpPr>
          <p:cNvPr id="11" name="Shape 9"/>
          <p:cNvSpPr/>
          <p:nvPr/>
        </p:nvSpPr>
        <p:spPr>
          <a:xfrm>
            <a:off x="621792" y="1517904"/>
            <a:ext cx="91440" cy="91440"/>
          </a:xfrm>
          <a:prstGeom prst="ellipse">
            <a:avLst/>
          </a:prstGeom>
          <a:solidFill>
            <a:srgbClr val="D6A847"/>
          </a:solidFill>
          <a:ln w="12700">
            <a:solidFill>
              <a:srgbClr val="D6A84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822960" y="1481328"/>
            <a:ext cx="5193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10" dirty="0">
                <a:solidFill>
                  <a:srgbClr val="F8FAFC"/>
                </a:solidFill>
              </a:rPr>
              <a:t>SHAP waterfall muestra cómo cada variable empuja el score de una instancia.</a:t>
            </a:r>
            <a:endParaRPr lang="en-US" sz="1110" dirty="0"/>
          </a:p>
        </p:txBody>
      </p:sp>
      <p:sp>
        <p:nvSpPr>
          <p:cNvPr id="13" name="Shape 11"/>
          <p:cNvSpPr/>
          <p:nvPr/>
        </p:nvSpPr>
        <p:spPr>
          <a:xfrm>
            <a:off x="621792" y="1883664"/>
            <a:ext cx="91440" cy="91440"/>
          </a:xfrm>
          <a:prstGeom prst="ellipse">
            <a:avLst/>
          </a:prstGeom>
          <a:solidFill>
            <a:srgbClr val="D6A847"/>
          </a:solidFill>
          <a:ln w="12700">
            <a:solidFill>
              <a:srgbClr val="D6A84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822960" y="1847088"/>
            <a:ext cx="5193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10" dirty="0">
                <a:solidFill>
                  <a:srgbClr val="F8FAFC"/>
                </a:solidFill>
              </a:rPr>
              <a:t>LIME aproxima localmente la decisión del modelo alrededor del caso concreto.</a:t>
            </a:r>
            <a:endParaRPr lang="en-US" sz="1110" dirty="0"/>
          </a:p>
        </p:txBody>
      </p:sp>
      <p:sp>
        <p:nvSpPr>
          <p:cNvPr id="15" name="Shape 13"/>
          <p:cNvSpPr/>
          <p:nvPr/>
        </p:nvSpPr>
        <p:spPr>
          <a:xfrm>
            <a:off x="621792" y="2249424"/>
            <a:ext cx="91440" cy="91440"/>
          </a:xfrm>
          <a:prstGeom prst="ellipse">
            <a:avLst/>
          </a:prstGeom>
          <a:solidFill>
            <a:srgbClr val="D6A847"/>
          </a:solidFill>
          <a:ln w="12700">
            <a:solidFill>
              <a:srgbClr val="D6A84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822960" y="2212848"/>
            <a:ext cx="5193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10" dirty="0">
                <a:solidFill>
                  <a:srgbClr val="F8FAFC"/>
                </a:solidFill>
              </a:rPr>
              <a:t>Ambas lecturas facilitan explicar una predicción a una persona afectada.</a:t>
            </a:r>
            <a:endParaRPr lang="en-US" sz="1110" dirty="0"/>
          </a:p>
        </p:txBody>
      </p:sp>
      <p:pic>
        <p:nvPicPr>
          <p:cNvPr id="17" name="Image 0" descr="/mnt/data/Grupo12_Taller_XAI_S4/assets/figures/11_shap_waterfall_instancia_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94786" y="2760134"/>
            <a:ext cx="3818621" cy="3592070"/>
          </a:xfrm>
          <a:prstGeom prst="rect">
            <a:avLst/>
          </a:prstGeom>
          <a:effectLst>
            <a:outerShdw blurRad="25400" dist="19050" dir="2700000" algn="bl" rotWithShape="0">
              <a:srgbClr val="000000">
                <a:alpha val="28000"/>
              </a:srgbClr>
            </a:outerShdw>
          </a:effectLst>
        </p:spPr>
      </p:pic>
      <p:pic>
        <p:nvPicPr>
          <p:cNvPr id="18" name="Image 1" descr="/mnt/data/Grupo12_Taller_XAI_S4/assets/figures/12_lime_instancia_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29200" y="3514886"/>
            <a:ext cx="5236881" cy="2840193"/>
          </a:xfrm>
          <a:prstGeom prst="rect">
            <a:avLst/>
          </a:prstGeom>
          <a:effectLst>
            <a:outerShdw blurRad="25400" dist="19050" dir="2700000" algn="bl" rotWithShape="0">
              <a:srgbClr val="000000">
                <a:alpha val="28000"/>
              </a:srgbClr>
            </a:outerShdw>
          </a:effectLst>
        </p:spPr>
      </p:pic>
      <p:pic>
        <p:nvPicPr>
          <p:cNvPr id="22" name="Image 1" descr="/mnt/data/UEES_logo_cropped_transparent.png">
            <a:extLst>
              <a:ext uri="{FF2B5EF4-FFF2-40B4-BE49-F238E27FC236}">
                <a16:creationId xmlns:a16="http://schemas.microsoft.com/office/drawing/2014/main" id="{37D7AC21-FCAE-91D0-7ACC-45ADFAFF628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276906" y="41990"/>
            <a:ext cx="854828" cy="318357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61B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5" descr="a_dark_futuristic_tech_business_background_sce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7" name="Rectangle 26"/>
          <p:cNvSpPr/>
          <p:nvPr/>
        </p:nvSpPr>
        <p:spPr>
          <a:xfrm>
            <a:off x="0" y="3285079"/>
            <a:ext cx="12192000" cy="6858000"/>
          </a:xfrm>
          <a:prstGeom prst="rect">
            <a:avLst/>
          </a:prstGeom>
          <a:solidFill>
            <a:srgbClr val="010C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8" name="Picture 27" descr="ai_video_zone_b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320040"/>
            <a:ext cx="5166360" cy="2651760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0" y="6382512"/>
            <a:ext cx="12191695" cy="475488"/>
          </a:xfrm>
          <a:prstGeom prst="rect">
            <a:avLst/>
          </a:prstGeom>
          <a:solidFill>
            <a:srgbClr val="03111D"/>
          </a:solidFill>
          <a:ln w="12700">
            <a:solidFill>
              <a:srgbClr val="03111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411480" y="6382512"/>
            <a:ext cx="6400800" cy="0"/>
          </a:xfrm>
          <a:prstGeom prst="line">
            <a:avLst/>
          </a:prstGeom>
          <a:noFill/>
          <a:ln w="17780">
            <a:solidFill>
              <a:srgbClr val="00B7C7">
                <a:alpha val="8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040880" y="6382512"/>
            <a:ext cx="4480560" cy="0"/>
          </a:xfrm>
          <a:prstGeom prst="line">
            <a:avLst/>
          </a:prstGeom>
          <a:noFill/>
          <a:ln w="13970">
            <a:solidFill>
              <a:srgbClr val="D6A847">
                <a:alpha val="6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510528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9FB6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Taller colaborativo S4 · XAI, ética, sesgo y calidad de datos</a:t>
            </a:r>
            <a:endParaRPr lang="en-US" sz="780" dirty="0"/>
          </a:p>
        </p:txBody>
      </p:sp>
      <p:sp>
        <p:nvSpPr>
          <p:cNvPr id="6" name="Text 4"/>
          <p:cNvSpPr/>
          <p:nvPr/>
        </p:nvSpPr>
        <p:spPr>
          <a:xfrm>
            <a:off x="11201400" y="6501384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D6A847"/>
                </a:solidFill>
              </a:rPr>
              <a:t>Ética · 14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6537960" y="446363"/>
            <a:ext cx="5285232" cy="2926080"/>
          </a:xfrm>
          <a:prstGeom prst="roundRect">
            <a:avLst>
              <a:gd name="adj" fmla="val 2500"/>
            </a:avLst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24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6720840" y="2980944"/>
            <a:ext cx="4937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DCE8F2">
                    <a:alpha val="42000"/>
                  </a:srgbClr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ESPACIO RESERVADO PARA VIDEO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566928" y="347472"/>
            <a:ext cx="5623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b="1" dirty="0">
                <a:solidFill>
                  <a:srgbClr val="68E0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TRANSPARENCIA Y RIESGOS</a:t>
            </a:r>
            <a:endParaRPr lang="en-US" sz="880" dirty="0"/>
          </a:p>
        </p:txBody>
      </p:sp>
      <p:sp>
        <p:nvSpPr>
          <p:cNvPr id="10" name="Text 8"/>
          <p:cNvSpPr/>
          <p:nvPr/>
        </p:nvSpPr>
        <p:spPr>
          <a:xfrm>
            <a:off x="548640" y="603504"/>
            <a:ext cx="5989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Interpretación y reflexión ética</a:t>
            </a:r>
            <a:endParaRPr lang="en-US" sz="2500" dirty="0"/>
          </a:p>
        </p:txBody>
      </p:sp>
      <p:sp>
        <p:nvSpPr>
          <p:cNvPr id="11" name="Shape 9"/>
          <p:cNvSpPr/>
          <p:nvPr/>
        </p:nvSpPr>
        <p:spPr>
          <a:xfrm>
            <a:off x="621792" y="1517904"/>
            <a:ext cx="91440" cy="91440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822960" y="1481328"/>
            <a:ext cx="5330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110" dirty="0">
                <a:solidFill>
                  <a:srgbClr val="F8FAFC"/>
                </a:solidFill>
              </a:rPr>
              <a:t>Aprendizaje: el modelo toma decisiones siguiendo principalmente la variable salarial total con beneficios.</a:t>
            </a:r>
            <a:endParaRPr lang="en-US" sz="1110" dirty="0"/>
          </a:p>
        </p:txBody>
      </p:sp>
      <p:sp>
        <p:nvSpPr>
          <p:cNvPr id="13" name="Shape 11"/>
          <p:cNvSpPr/>
          <p:nvPr/>
        </p:nvSpPr>
        <p:spPr>
          <a:xfrm>
            <a:off x="621792" y="1865376"/>
            <a:ext cx="91440" cy="91440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822960" y="1828800"/>
            <a:ext cx="5330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10" dirty="0">
                <a:solidFill>
                  <a:srgbClr val="F8FAFC"/>
                </a:solidFill>
              </a:rPr>
              <a:t>Peso excesivo: SalarioTotalConBeneficios concentra la explicación del modelo.</a:t>
            </a:r>
            <a:endParaRPr lang="en-US" sz="1110" dirty="0"/>
          </a:p>
        </p:txBody>
      </p:sp>
      <p:sp>
        <p:nvSpPr>
          <p:cNvPr id="15" name="Shape 13"/>
          <p:cNvSpPr/>
          <p:nvPr/>
        </p:nvSpPr>
        <p:spPr>
          <a:xfrm>
            <a:off x="621792" y="2212848"/>
            <a:ext cx="91440" cy="91440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822960" y="2176272"/>
            <a:ext cx="5330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110" dirty="0">
                <a:solidFill>
                  <a:srgbClr val="F8FAFC"/>
                </a:solidFill>
              </a:rPr>
              <a:t>Riesgo sin XAI: se aceptaría una precisión perfecta sin detectar dependencia metodológica.</a:t>
            </a:r>
            <a:endParaRPr lang="en-US" sz="1110" dirty="0"/>
          </a:p>
        </p:txBody>
      </p:sp>
      <p:sp>
        <p:nvSpPr>
          <p:cNvPr id="17" name="Shape 15"/>
          <p:cNvSpPr/>
          <p:nvPr/>
        </p:nvSpPr>
        <p:spPr>
          <a:xfrm>
            <a:off x="621792" y="2560320"/>
            <a:ext cx="91440" cy="91440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822960" y="2523744"/>
            <a:ext cx="5330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110" dirty="0">
                <a:solidFill>
                  <a:srgbClr val="F8FAFC"/>
                </a:solidFill>
              </a:rPr>
              <a:t>Riesgo social: decisiones automatizadas podrían afectar oportunidades laborales si se usan sin revisión.</a:t>
            </a:r>
            <a:endParaRPr lang="en-US" sz="1110" dirty="0"/>
          </a:p>
        </p:txBody>
      </p:sp>
      <p:sp>
        <p:nvSpPr>
          <p:cNvPr id="19" name="Shape 17"/>
          <p:cNvSpPr/>
          <p:nvPr/>
        </p:nvSpPr>
        <p:spPr>
          <a:xfrm>
            <a:off x="786384" y="3703320"/>
            <a:ext cx="3520440" cy="914400"/>
          </a:xfrm>
          <a:prstGeom prst="roundRect">
            <a:avLst>
              <a:gd name="adj" fmla="val 8000"/>
            </a:avLst>
          </a:prstGeom>
          <a:solidFill>
            <a:srgbClr val="FFFFFF">
              <a:alpha val="8000"/>
            </a:srgbClr>
          </a:solidFill>
          <a:ln w="15240">
            <a:solidFill>
              <a:srgbClr val="00B7C7">
                <a:alpha val="8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950976" y="3813048"/>
            <a:ext cx="3191256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30" dirty="0">
                <a:solidFill>
                  <a:srgbClr val="F8FAFC"/>
                </a:solidFill>
              </a:rPr>
              <a:t>Transparencia: explicar el modelo permite cuestionar su lógica antes de usarlo en decisiones sobre personas.</a:t>
            </a:r>
            <a:endParaRPr lang="en-US" sz="1130" dirty="0"/>
          </a:p>
        </p:txBody>
      </p:sp>
      <p:sp>
        <p:nvSpPr>
          <p:cNvPr id="21" name="Shape 19"/>
          <p:cNvSpPr/>
          <p:nvPr/>
        </p:nvSpPr>
        <p:spPr>
          <a:xfrm>
            <a:off x="4617720" y="3703320"/>
            <a:ext cx="3429000" cy="914400"/>
          </a:xfrm>
          <a:prstGeom prst="roundRect">
            <a:avLst>
              <a:gd name="adj" fmla="val 8000"/>
            </a:avLst>
          </a:prstGeom>
          <a:solidFill>
            <a:srgbClr val="FFFFFF">
              <a:alpha val="8000"/>
            </a:srgbClr>
          </a:solidFill>
          <a:ln w="15240">
            <a:solidFill>
              <a:srgbClr val="D6A847">
                <a:alpha val="8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4782312" y="3813048"/>
            <a:ext cx="3099816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30" dirty="0">
                <a:solidFill>
                  <a:srgbClr val="F8FAFC"/>
                </a:solidFill>
              </a:rPr>
              <a:t>Responsabilidad: métricas perfectas no significan justicia, generalización ni idoneidad para producción.</a:t>
            </a:r>
            <a:endParaRPr lang="en-US" sz="1130" dirty="0"/>
          </a:p>
        </p:txBody>
      </p:sp>
      <p:sp>
        <p:nvSpPr>
          <p:cNvPr id="23" name="Shape 21"/>
          <p:cNvSpPr/>
          <p:nvPr/>
        </p:nvSpPr>
        <p:spPr>
          <a:xfrm>
            <a:off x="8394192" y="3703320"/>
            <a:ext cx="2926080" cy="914400"/>
          </a:xfrm>
          <a:prstGeom prst="roundRect">
            <a:avLst>
              <a:gd name="adj" fmla="val 8000"/>
            </a:avLst>
          </a:prstGeom>
          <a:solidFill>
            <a:srgbClr val="FFFFFF">
              <a:alpha val="8000"/>
            </a:srgbClr>
          </a:solidFill>
          <a:ln w="15240">
            <a:solidFill>
              <a:srgbClr val="19A974">
                <a:alpha val="8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22"/>
          <p:cNvSpPr/>
          <p:nvPr/>
        </p:nvSpPr>
        <p:spPr>
          <a:xfrm>
            <a:off x="8558784" y="3813048"/>
            <a:ext cx="2596896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30" dirty="0">
                <a:solidFill>
                  <a:srgbClr val="F8FAFC"/>
                </a:solidFill>
              </a:rPr>
              <a:t>Mejora: entrenar una versión sin variables derivadas de la etiqueta y aplicar validación cruzada.</a:t>
            </a:r>
            <a:endParaRPr lang="en-US" sz="1130" dirty="0"/>
          </a:p>
        </p:txBody>
      </p:sp>
      <p:pic>
        <p:nvPicPr>
          <p:cNvPr id="25" name="Image 0" descr="/mnt/data/Grupo12_Taller_XAI_S4/assets/figures/10_comparacion_pfi_sha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17720" y="4983479"/>
            <a:ext cx="3178167" cy="1888321"/>
          </a:xfrm>
          <a:prstGeom prst="rect">
            <a:avLst/>
          </a:prstGeom>
          <a:effectLst>
            <a:outerShdw blurRad="25400" dist="19050" dir="2700000" algn="bl" rotWithShape="0">
              <a:srgbClr val="000000">
                <a:alpha val="28000"/>
              </a:srgbClr>
            </a:outerShdw>
          </a:effectLst>
        </p:spPr>
      </p:pic>
      <p:pic>
        <p:nvPicPr>
          <p:cNvPr id="29" name="Image 1" descr="/mnt/data/UEES_logo_cropped_transparent.png">
            <a:extLst>
              <a:ext uri="{FF2B5EF4-FFF2-40B4-BE49-F238E27FC236}">
                <a16:creationId xmlns:a16="http://schemas.microsoft.com/office/drawing/2014/main" id="{C145778B-8A3C-E7D3-0E1F-CA16A29ACD0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276906" y="41990"/>
            <a:ext cx="854828" cy="318357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61B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Picture 26" descr="a_dark_futuristic_tech_business_background_sce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05" y="0"/>
            <a:ext cx="12192000" cy="6858000"/>
          </a:xfrm>
          <a:prstGeom prst="rect">
            <a:avLst/>
          </a:prstGeom>
        </p:spPr>
      </p:pic>
      <p:sp>
        <p:nvSpPr>
          <p:cNvPr id="28" name="Rectangle 27"/>
          <p:cNvSpPr/>
          <p:nvPr/>
        </p:nvSpPr>
        <p:spPr>
          <a:xfrm>
            <a:off x="0" y="16934"/>
            <a:ext cx="12192000" cy="6858000"/>
          </a:xfrm>
          <a:prstGeom prst="rect">
            <a:avLst/>
          </a:prstGeom>
          <a:solidFill>
            <a:srgbClr val="010C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9" name="Picture 28" descr="ai_video_zone_b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320040"/>
            <a:ext cx="5166360" cy="2651760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0" y="6382512"/>
            <a:ext cx="12191695" cy="475488"/>
          </a:xfrm>
          <a:prstGeom prst="rect">
            <a:avLst/>
          </a:prstGeom>
          <a:solidFill>
            <a:srgbClr val="03111D"/>
          </a:solidFill>
          <a:ln w="12700">
            <a:solidFill>
              <a:srgbClr val="03111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411480" y="6382512"/>
            <a:ext cx="6400800" cy="0"/>
          </a:xfrm>
          <a:prstGeom prst="line">
            <a:avLst/>
          </a:prstGeom>
          <a:noFill/>
          <a:ln w="17780">
            <a:solidFill>
              <a:srgbClr val="00B7C7">
                <a:alpha val="8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040880" y="6382512"/>
            <a:ext cx="4480560" cy="0"/>
          </a:xfrm>
          <a:prstGeom prst="line">
            <a:avLst/>
          </a:prstGeom>
          <a:noFill/>
          <a:ln w="13970">
            <a:solidFill>
              <a:srgbClr val="D6A847">
                <a:alpha val="6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510528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9FB6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Taller colaborativo S4 · XAI, ética, sesgo y calidad de datos</a:t>
            </a:r>
            <a:endParaRPr lang="en-US" sz="780" dirty="0"/>
          </a:p>
        </p:txBody>
      </p:sp>
      <p:sp>
        <p:nvSpPr>
          <p:cNvPr id="6" name="Text 4"/>
          <p:cNvSpPr/>
          <p:nvPr/>
        </p:nvSpPr>
        <p:spPr>
          <a:xfrm>
            <a:off x="11201400" y="6501384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D6A847"/>
                </a:solidFill>
              </a:rPr>
              <a:t>Cierre · 15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6537960" y="615697"/>
            <a:ext cx="5285232" cy="2926080"/>
          </a:xfrm>
          <a:prstGeom prst="roundRect">
            <a:avLst>
              <a:gd name="adj" fmla="val 2500"/>
            </a:avLst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24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6720840" y="2980944"/>
            <a:ext cx="4937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DCE8F2">
                    <a:alpha val="42000"/>
                  </a:srgbClr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ESPACIO RESERVADO PARA VIDEO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566928" y="347472"/>
            <a:ext cx="5623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b="1" dirty="0">
                <a:solidFill>
                  <a:srgbClr val="68E0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MENSAJE FINAL</a:t>
            </a:r>
            <a:endParaRPr lang="en-US" sz="880" dirty="0"/>
          </a:p>
        </p:txBody>
      </p:sp>
      <p:sp>
        <p:nvSpPr>
          <p:cNvPr id="10" name="Text 8"/>
          <p:cNvSpPr/>
          <p:nvPr/>
        </p:nvSpPr>
        <p:spPr>
          <a:xfrm>
            <a:off x="548640" y="603504"/>
            <a:ext cx="5989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Conclusiones y recomendaciones</a:t>
            </a:r>
            <a:endParaRPr lang="en-US" sz="2500" dirty="0"/>
          </a:p>
        </p:txBody>
      </p:sp>
      <p:sp>
        <p:nvSpPr>
          <p:cNvPr id="11" name="Shape 9"/>
          <p:cNvSpPr/>
          <p:nvPr/>
        </p:nvSpPr>
        <p:spPr>
          <a:xfrm>
            <a:off x="621792" y="1441365"/>
            <a:ext cx="91440" cy="91440"/>
          </a:xfrm>
          <a:prstGeom prst="ellipse">
            <a:avLst/>
          </a:prstGeom>
          <a:solidFill>
            <a:srgbClr val="19A974"/>
          </a:solidFill>
          <a:ln w="12700">
            <a:solidFill>
              <a:srgbClr val="19A97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758952" y="1481328"/>
            <a:ext cx="5568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chemeClr val="bg2"/>
                </a:solidFill>
              </a:rPr>
              <a:t>El portafolio cumple modelo supervisado, entrenamiento, evaluación, XAI, visualizaciones y reflexión.</a:t>
            </a:r>
          </a:p>
        </p:txBody>
      </p:sp>
      <p:sp>
        <p:nvSpPr>
          <p:cNvPr id="13" name="Shape 11"/>
          <p:cNvSpPr/>
          <p:nvPr/>
        </p:nvSpPr>
        <p:spPr>
          <a:xfrm>
            <a:off x="621792" y="1925322"/>
            <a:ext cx="91440" cy="91440"/>
          </a:xfrm>
          <a:prstGeom prst="ellipse">
            <a:avLst/>
          </a:prstGeom>
          <a:solidFill>
            <a:srgbClr val="19A974"/>
          </a:solidFill>
          <a:ln w="12700">
            <a:solidFill>
              <a:srgbClr val="19A97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758952" y="1948011"/>
            <a:ext cx="5431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F8FAFC"/>
                </a:solidFill>
              </a:rPr>
              <a:t>PFI, SHAP y LIME convergen en el mismo hallazgo: dependencia de una variable dominante.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21792" y="2324273"/>
            <a:ext cx="91440" cy="91440"/>
          </a:xfrm>
          <a:prstGeom prst="ellipse">
            <a:avLst/>
          </a:prstGeom>
          <a:solidFill>
            <a:srgbClr val="19A974"/>
          </a:solidFill>
          <a:ln w="12700">
            <a:solidFill>
              <a:srgbClr val="19A97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758952" y="2355427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F8FAFC"/>
                </a:solidFill>
              </a:rPr>
              <a:t>La IA responsable exige precisión, calidad de datos, auditoría de sesgos y explicabilidad.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21792" y="2790954"/>
            <a:ext cx="91440" cy="91440"/>
          </a:xfrm>
          <a:prstGeom prst="ellipse">
            <a:avLst/>
          </a:prstGeom>
          <a:solidFill>
            <a:srgbClr val="19A974"/>
          </a:solidFill>
          <a:ln w="12700">
            <a:solidFill>
              <a:srgbClr val="19A97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758952" y="2813645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F8FAFC"/>
                </a:solidFill>
              </a:rPr>
              <a:t>Antes de producción: rediseñar variables, usar clasificador explícito, validar con CV y documentar Model Card.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68680" y="3730752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68E0D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PFI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868680" y="4187952"/>
            <a:ext cx="1234440" cy="2926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880" dirty="0">
                <a:solidFill>
                  <a:srgbClr val="C7D2DE"/>
                </a:solidFill>
              </a:rPr>
              <a:t>global</a:t>
            </a:r>
            <a:endParaRPr lang="en-US" sz="880" dirty="0"/>
          </a:p>
        </p:txBody>
      </p:sp>
      <p:sp>
        <p:nvSpPr>
          <p:cNvPr id="21" name="Text 19"/>
          <p:cNvSpPr/>
          <p:nvPr/>
        </p:nvSpPr>
        <p:spPr>
          <a:xfrm>
            <a:off x="2468880" y="3730752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D6A8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SHAP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2468880" y="4187952"/>
            <a:ext cx="1234440" cy="2926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880" dirty="0">
                <a:solidFill>
                  <a:srgbClr val="C7D2DE"/>
                </a:solidFill>
              </a:rPr>
              <a:t>global/local</a:t>
            </a:r>
            <a:endParaRPr lang="en-US" sz="880" dirty="0"/>
          </a:p>
        </p:txBody>
      </p:sp>
      <p:sp>
        <p:nvSpPr>
          <p:cNvPr id="23" name="Text 21"/>
          <p:cNvSpPr/>
          <p:nvPr/>
        </p:nvSpPr>
        <p:spPr>
          <a:xfrm>
            <a:off x="4160520" y="3730752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9A97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LIME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4160520" y="4187952"/>
            <a:ext cx="1234440" cy="2926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880" dirty="0">
                <a:solidFill>
                  <a:srgbClr val="C7D2DE"/>
                </a:solidFill>
              </a:rPr>
              <a:t>local</a:t>
            </a:r>
            <a:endParaRPr lang="en-US" sz="880" dirty="0"/>
          </a:p>
        </p:txBody>
      </p:sp>
      <p:sp>
        <p:nvSpPr>
          <p:cNvPr id="25" name="Shape 23"/>
          <p:cNvSpPr/>
          <p:nvPr/>
        </p:nvSpPr>
        <p:spPr>
          <a:xfrm>
            <a:off x="804672" y="4901184"/>
            <a:ext cx="7955280" cy="777240"/>
          </a:xfrm>
          <a:prstGeom prst="roundRect">
            <a:avLst>
              <a:gd name="adj" fmla="val 9412"/>
            </a:avLst>
          </a:prstGeom>
          <a:solidFill>
            <a:srgbClr val="FFFFFF">
              <a:alpha val="8000"/>
            </a:srgbClr>
          </a:solidFill>
          <a:ln w="15240">
            <a:solidFill>
              <a:srgbClr val="D6A847">
                <a:alpha val="8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969264" y="5010912"/>
            <a:ext cx="7626096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30" dirty="0">
                <a:solidFill>
                  <a:srgbClr val="F8FAFC"/>
                </a:solidFill>
              </a:rPr>
              <a:t>Cierre sugerido para el video: “La IA responsable no se construye únicamente con precisión; se construye con datos de calidad, explicabilidad y criterio ético.”</a:t>
            </a:r>
            <a:endParaRPr lang="en-US" sz="1130" dirty="0"/>
          </a:p>
        </p:txBody>
      </p:sp>
      <p:pic>
        <p:nvPicPr>
          <p:cNvPr id="30" name="Image 1" descr="/mnt/data/UEES_logo_cropped_transparent.png">
            <a:extLst>
              <a:ext uri="{FF2B5EF4-FFF2-40B4-BE49-F238E27FC236}">
                <a16:creationId xmlns:a16="http://schemas.microsoft.com/office/drawing/2014/main" id="{093DA12E-75E8-49B8-2DD5-8F686B97043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6906" y="41990"/>
            <a:ext cx="854828" cy="31835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1542</Words>
  <Application>Microsoft Office PowerPoint</Application>
  <PresentationFormat>Panorámica</PresentationFormat>
  <Paragraphs>195</Paragraphs>
  <Slides>13</Slides>
  <Notes>12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8" baseType="lpstr">
      <vt:lpstr>Aptos</vt:lpstr>
      <vt:lpstr>Aptos Display</vt:lpstr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UEES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Portfolio XAI — Predicción salarial</dc:title>
  <dc:subject>Taller colaborativo Semana 4 - Técnicas XAI</dc:subject>
  <dc:creator>Grupo 12</dc:creator>
  <cp:lastModifiedBy>Niko Jimenez Bruno</cp:lastModifiedBy>
  <cp:revision>8</cp:revision>
  <dcterms:created xsi:type="dcterms:W3CDTF">2026-05-20T05:00:26Z</dcterms:created>
  <dcterms:modified xsi:type="dcterms:W3CDTF">2026-05-21T06:19:36Z</dcterms:modified>
</cp:coreProperties>
</file>